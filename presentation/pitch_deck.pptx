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Chào mọi người. Em là Công, dự án P-130, tên sản phẩm là Scenario Forge.</a:t>
            </a:r>
          </a:p>
          <a:p/>
          <a:p>
            <a:r>
              <a:t>Một câu thôi: kỹ sư gõ một câu tiếng Việt mô tả tình huống giao thông nguy</a:t>
            </a:r>
          </a:p>
          <a:p>
            <a:r>
              <a:t>hiểm, hệ thống trả về một file kịch bản mô phỏng chạy được thật trên CARLA.</a:t>
            </a:r>
          </a:p>
          <a:p/>
          <a:p>
            <a:r>
              <a:t>Bốn con số dưới đây là bằng chứng, không phải kỳ vọng — em sẽ quay lại từng</a:t>
            </a:r>
          </a:p>
          <a:p>
            <a:r>
              <a:t>số ở phần sau.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Xe tự lái chạy tốt trên đường thẳng. Nó hỏng ở tình huống hiếm — bị tạt đầu,</a:t>
            </a:r>
          </a:p>
          <a:p>
            <a:r>
              <a:t>gặp xe đi ngược chiều, xe vượt đèn đỏ cắt ngang.</a:t>
            </a:r>
          </a:p>
          <a:p/>
          <a:p>
            <a:r>
              <a:t>Muốn kiểm tra những tình huống đó thì phải dựng được chúng trong mô phỏng, mà</a:t>
            </a:r>
          </a:p>
          <a:p>
            <a:r>
              <a:t>mô phỏng ăn file OpenSCENARIO — XML hàng trăm dòng, toạ độ theo làn, trigger</a:t>
            </a:r>
          </a:p>
          <a:p>
            <a:r>
              <a:t>theo thời gian và vị trí.</a:t>
            </a:r>
          </a:p>
          <a:p/>
          <a:p>
            <a:r>
              <a:t>Vấn đề thật nằm ở đây: người biết tình huống nào nguy hiểm thường không phải</a:t>
            </a:r>
          </a:p>
          <a:p>
            <a:r>
              <a:t>người viết được XML đó. Mỗi kịch bản mới là nửa ngày mò tài liệu, và sai một</a:t>
            </a:r>
          </a:p>
          <a:p>
            <a:r>
              <a:t>dấu trừ ở offset là xe xuất phát nhầm phía.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Đây là toàn bộ sản phẩm trên một slide.</a:t>
            </a:r>
          </a:p>
          <a:p/>
          <a:p>
            <a:r>
              <a:t>Bên trái là thứ người dùng gõ: một câu tiếng Việt bình thường. Bên phải là thứ</a:t>
            </a:r>
          </a:p>
          <a:p>
            <a:r>
              <a:t>họ nhận: file .xosc đúng chuẩn OpenSCENARIO 1.0, tải về là chạy.</a:t>
            </a:r>
          </a:p>
          <a:p/>
          <a:p>
            <a:r>
              <a:t>Chỗ đáng chú ý là ba dòng ở dưới. `ds = -25` nghĩa là xe máy xuất phát phía SAU</a:t>
            </a:r>
          </a:p>
          <a:p>
            <a:r>
              <a:t>ô tô — muốn vượt lên tạt đầu thì bắt buộc phải thế, và đây đúng là chỗ người</a:t>
            </a:r>
          </a:p>
          <a:p>
            <a:r>
              <a:t>viết tay hay sai dấu. `ReachPositionCondition` nghĩa là cú tạt đầu chỉ kích hoạt</a:t>
            </a:r>
          </a:p>
          <a:p>
            <a:r>
              <a:t>khi xe máy đã thật sự dẫn trước 7 mét, chứ không phải sau 7 giây — em sẽ nói kỹ</a:t>
            </a:r>
          </a:p>
          <a:p>
            <a:r>
              <a:t>chỗ này ở phần bằng chứng.</a:t>
            </a:r>
          </a:p>
          <a:p/>
          <a:p>
            <a:r>
              <a:t>Người dùng không thấy mấy dòng này. Họ chỉ gõ câu tiếng Việt.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Sáu maneuver đang nằm trong phạm vi cam kết: tạt đầu, lệch làn, phanh gấp, dừng</a:t>
            </a:r>
          </a:p>
          <a:p>
            <a:r>
              <a:t>giữa làn, đi ngược chiều, vượt đèn đỏ.</a:t>
            </a:r>
          </a:p>
          <a:p/>
          <a:p>
            <a:r>
              <a:t>Năm cái đầu chạy trên anchor cao tốc Town04. Vượt đèn đỏ phải chuyển sang một</a:t>
            </a:r>
          </a:p>
          <a:p>
            <a:r>
              <a:t>anchor giao cắt đô thị, vì đèn gần anchor cao tốc nhất cách hơn 200 mét — ngoài</a:t>
            </a:r>
          </a:p>
          <a:p>
            <a:r>
              <a:t>tầm. Em sẽ quay lại chuyện đó ở phần giới hạn.</a:t>
            </a:r>
          </a:p>
          <a:p/>
          <a:p>
            <a:r>
              <a:t>Có một cái thứ bảy là người đi bộ băng ngang, em đã CHỦ ĐỘNG bỏ khỏi phạm vi:</a:t>
            </a:r>
          </a:p>
          <a:p>
            <a:r>
              <a:t>trên anchor cao tốc nó vô lý, và định tuyến chạy dọc làn thay vì băng ngang.</a:t>
            </a:r>
          </a:p>
          <a:p>
            <a:r>
              <a:t>Thà nói sáu cái chạy đúng còn hơn bảy cái mà một cái sai.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Bên trong là một graph bảy node, và điều em muốn nhấn: LLM chỉ đụng vào ba node</a:t>
            </a:r>
          </a:p>
          <a:p>
            <a:r>
              <a:t>màu cam.</a:t>
            </a:r>
          </a:p>
          <a:p/>
          <a:p>
            <a:r>
              <a:t>LLM hiểu câu, LLM sinh nội dung kịch bản dưới dạng có cấu trúc, LLM sửa khi</a:t>
            </a:r>
          </a:p>
          <a:p>
            <a:r>
              <a:t>validator báo lỗi. Nó KHÔNG sinh XML. Việc dịch sang XML là code tất định — cùng</a:t>
            </a:r>
          </a:p>
          <a:p>
            <a:r>
              <a:t>input luôn ra cùng output, không có chuyện hôm nay khác hôm qua.</a:t>
            </a:r>
          </a:p>
          <a:p/>
          <a:p>
            <a:r>
              <a:t>Vòng lặp ở giữa là chỗ hay bị hỏi: validator báo lỗi thì cho LLM sửa, nhưng tối</a:t>
            </a:r>
          </a:p>
          <a:p>
            <a:r>
              <a:t>đa ba vòng. Hết ba vòng là báo hỏng chứ không lặp vô hạn. Trần đó nằm trong code,</a:t>
            </a:r>
          </a:p>
          <a:p>
            <a:r>
              <a:t>không nằm trong prompt.</a:t>
            </a:r>
          </a:p>
          <a:p/>
          <a:p>
            <a:r>
              <a:t>Validator bắt cả lỗi hình học vô nghĩa — ví dụ xe máy đặt phía TRƯỚC ô tô mà vẫn</a:t>
            </a:r>
          </a:p>
          <a:p>
            <a:r>
              <a:t>bảo là vượt lên tạt đầu. Về schema thì hợp lệ, về vật lý thì không đuổi kịp. Bắt</a:t>
            </a:r>
          </a:p>
          <a:p>
            <a:r>
              <a:t>ở đây là chưa tốn giây GPU nào.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Đây là quyết định thiết kế em tự hào nhất, và nó từng SAI.</a:t>
            </a:r>
          </a:p>
          <a:p/>
          <a:p>
            <a:r>
              <a:t>Bản đầu tiên cho kịch bản vào thư viện trước, CARLA chạy sau. Nghĩa là một kịch</a:t>
            </a:r>
          </a:p>
          <a:p>
            <a:r>
              <a:t>bản chưa ai kiểm chứng đã có thể được dùng làm ví dụ cho lần sinh tiếp theo. Đó</a:t>
            </a:r>
          </a:p>
          <a:p>
            <a:r>
              <a:t>là đường thẳng để thư viện tự bẩn: model học từ chính rác nó vừa sinh ra.</a:t>
            </a:r>
          </a:p>
          <a:p/>
          <a:p>
            <a:r>
              <a:t>Em đảo lại thứ tự. Bây giờ có hai cổng, cả hai đều là người thật.</a:t>
            </a:r>
          </a:p>
          <a:p/>
          <a:p>
            <a:r>
              <a:t>Cổng một bảo vệ tài nguyên: chưa ai duyệt thì không tốn một giây GPU. Cổng hai</a:t>
            </a:r>
          </a:p>
          <a:p>
            <a:r>
              <a:t>bảo vệ chất lượng dữ liệu: người phải xem kết quả CARLA thật rồi mới quyết định</a:t>
            </a:r>
          </a:p>
          <a:p>
            <a:r>
              <a:t>cho vào thư viện. Và chỉ sau cổng hai hệ thống mới tạo embedding — tức là mới</a:t>
            </a:r>
          </a:p>
          <a:p>
            <a:r>
              <a:t>cho phép kịch bản đó xuất hiện làm ví dụ cho lần sinh sau.</a:t>
            </a:r>
          </a:p>
          <a:p/>
          <a:p>
            <a:r>
              <a:t>AI đề xuất, người quyết định.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Kiến trúc chia làm ba khối, và ranh giới giữa chúng là điều đáng nói.</a:t>
            </a:r>
          </a:p>
          <a:p/>
          <a:p>
            <a:r>
              <a:t>Web gọi backend Python. Backend chạy graph, gọi LLM, biên dịch XML, giữ database.</a:t>
            </a:r>
          </a:p>
          <a:p>
            <a:r>
              <a:t>Worker GPU nằm hoàn toàn tách rời, chạy Python 3.10 vì CARLA yêu cầu vậy.</a:t>
            </a:r>
          </a:p>
          <a:p/>
          <a:p>
            <a:r>
              <a:t>Ranh giới quan trọng: backend KHÔNG import carla, và có test trong CI để canh</a:t>
            </a:r>
          </a:p>
          <a:p>
            <a:r>
              <a:t>đúng chuyện đó. Worker nhận chuỗi XML, không nhận object Python. Nhờ vậy hai bên</a:t>
            </a:r>
          </a:p>
          <a:p>
            <a:r>
              <a:t>không dính venv của nhau, và khi máy GPU tắt thì web vẫn sinh, duyệt và tải file</a:t>
            </a:r>
          </a:p>
          <a:p>
            <a:r>
              <a:t>bình thường — job chỉ nằm chờ trong hàng đợi.</a:t>
            </a:r>
          </a:p>
          <a:p/>
          <a:p>
            <a:r>
              <a:t>Về test: 483 pass, 21 skip, chạy lại sáng nay. Có một fixture trong CI chặn mọi</a:t>
            </a:r>
          </a:p>
          <a:p>
            <a:r>
              <a:t>lời gọi LLM tính tiền, vì lỗi "test âm thầm gọi API trả phí" đã lọt vào repo ba</a:t>
            </a:r>
          </a:p>
          <a:p>
            <a:r>
              <a:t>lần rồi.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Đây là phần nâng cao của đề bài, và nó gồm hai nhánh.</a:t>
            </a:r>
          </a:p>
          <a:p/>
          <a:p>
            <a:r>
              <a:t>Nhánh một: chế độ chiến dịch. Thay vì gõ từng câu, người dùng khoanh vùng trên ma</a:t>
            </a:r>
          </a:p>
          <a:p>
            <a:r>
              <a:t>trận ODD — chọn thời tiết, loại xe, hành vi. Agent sinh mô tả tiếng Việt cho từng</a:t>
            </a:r>
          </a:p>
          <a:p>
            <a:r>
              <a:t>ô, rồi từng mô tả đó chạy qua ĐÚNG pipeline bảy node ban nãy. Không có đường tắt</a:t>
            </a:r>
          </a:p>
          <a:p>
            <a:r>
              <a:t>riêng cho batch, và lô sinh ra vẫn phải qua cổng duyệt như mọi kịch bản khác.</a:t>
            </a:r>
          </a:p>
          <a:p/>
          <a:p>
            <a:r>
              <a:t>Nhánh hai là closed-loop với mô hình lái, và đây là chỗ trả lời câu hỏi thật:</a:t>
            </a:r>
          </a:p>
          <a:p>
            <a:r>
              <a:t>"kịch bản này có làm mô hình lái thất bại không?"</a:t>
            </a:r>
          </a:p>
          <a:p/>
          <a:p>
            <a:r>
              <a:t>Cách làm: cùng một artifact, chạy hai lượt — baseline giữ tốc độ, và BehaviorAgent</a:t>
            </a:r>
          </a:p>
          <a:p>
            <a:r>
              <a:t>của CARLA. Cùng máy, cùng điều kiện đầu, chỉ đổi controller.</a:t>
            </a:r>
          </a:p>
          <a:p/>
          <a:p>
            <a:r>
              <a:t>Bảng bên phải là cặp chạy thật trên sc_011. Baseline không phanh, đâm ở giây</a:t>
            </a:r>
          </a:p>
          <a:p>
            <a:r>
              <a:t>10,8. BehaviorAgent CÓ phanh — phanh 0,5, giảm gần 3,7 mét trên giây — và vẫn</a:t>
            </a:r>
          </a:p>
          <a:p>
            <a:r>
              <a:t>đâm ở giây 10,75. Đó là một controller failure thật, và hệ thống đề xuất giữ kịch</a:t>
            </a:r>
          </a:p>
          <a:p>
            <a:r>
              <a:t>bản này làm ca hồi quy.</a:t>
            </a:r>
          </a:p>
          <a:p/>
          <a:p>
            <a:r>
              <a:t>Hai chốt thiết kế em muốn nói. Thứ nhất: kết quả của BehaviorAgent KHÔNG được</a:t>
            </a:r>
          </a:p>
          <a:p>
            <a:r>
              <a:t>phép cập nhật mức xác minh của kịch bản. Nếu cho phép, một controller giỏi tránh</a:t>
            </a:r>
          </a:p>
          <a:p>
            <a:r>
              <a:t>được sẽ biến kịch bản từ "có nguy hiểm" thành "không có gì" — tự xoá chính bằng</a:t>
            </a:r>
          </a:p>
          <a:p>
            <a:r>
              <a:t>chứng mình cần làm baseline. Thứ hai: hai lượt phải cùng điều kiện đầu; lệch tốc</a:t>
            </a:r>
          </a:p>
          <a:p>
            <a:r>
              <a:t>độ ego ở giây 2 quá một mét trên giây là hệ thống từ chối kết luận và bắt chạy</a:t>
            </a:r>
          </a:p>
          <a:p>
            <a:r>
              <a:t>lại. Em đã phải bỏ một kết quả "tránh được" đẹp vì lý do đó.</a:t>
            </a:r>
          </a:p>
          <a:p/>
          <a:p>
            <a:r>
              <a:t>Và hai giới hạn em nói thẳng: campaign chỉ sinh theo tổ hợp người chọn, không tự</a:t>
            </a:r>
          </a:p>
          <a:p>
            <a:r>
              <a:t>lặp nhiều thế hệ. Closed-loop dừng ở một cặp A/B do người khởi động. BehaviorAgent</a:t>
            </a:r>
          </a:p>
          <a:p>
            <a:r>
              <a:t>là controller tham chiếu của CARLA, chưa phải mô hình lái của doanh nghiệp — cắm</a:t>
            </a:r>
          </a:p>
          <a:p>
            <a:r>
              <a:t>model của họ vào là bước tiếp theo, và chỉ cần thêm một adapter ở worker.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Bốn mức, đo từ database thật, không phải ước lượng.</a:t>
            </a:r>
          </a:p>
          <a:p/>
          <a:p>
            <a:r>
              <a:t>L1: bảy mươi mốt phần trăm câu vào ra được bản nháp qua validate — mẫu số là</a:t>
            </a:r>
          </a:p>
          <a:p>
            <a:r>
              <a:t>một trăm ba mươi hai request, trong đó có cả những lượt hỏng của chiến dịch ODD</a:t>
            </a:r>
          </a:p>
          <a:p>
            <a:r>
              <a:t>chạy TRƯỚC khi em sửa ba lỗi prompt. Em không lọc chúng ra. L2: một trăm phần</a:t>
            </a:r>
          </a:p>
          <a:p>
            <a:r>
              <a:t>trăm kịch bản trong phạm vi biên dịch được ra XML, một trăm trên một trăm. L3:</a:t>
            </a:r>
          </a:p>
          <a:p>
            <a:r>
              <a:t>chín mươi tư phẩy sáu phần trăm chạy hết trên CARLA không crash.</a:t>
            </a:r>
          </a:p>
          <a:p/>
          <a:p>
            <a:r>
              <a:t>L4 là sáu mươi phần trăm. Em cố tình để nó to trên slide.</a:t>
            </a:r>
          </a:p>
          <a:p/>
          <a:p>
            <a:r>
              <a:t>Vì L4 hỏi câu khó nhất: quỹ đạo xe trong CARLA có ĐÚNG là cái mà câu tiếng Việt</a:t>
            </a:r>
          </a:p>
          <a:p>
            <a:r>
              <a:t>mô tả không. Một kịch bản có thể chạy trót lọt, trả về success, và hoàn toàn vô</a:t>
            </a:r>
          </a:p>
          <a:p>
            <a:r>
              <a:t>dụng — xe chạy song song hiền lành suốt ba mươi giây. Đó là loại hỏng tệ nhất vì</a:t>
            </a:r>
          </a:p>
          <a:p>
            <a:r>
              <a:t>nó trông như thành công.</a:t>
            </a:r>
          </a:p>
          <a:p/>
          <a:p>
            <a:r>
              <a:t>Nếu em bỏ L4 đi thì ba con số trên kia chỉ nói được là "file không lỗi cú pháp".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Đây là ma trận ODD: sáu maneuver nhân ba loại xe nhân bốn kiểu thời tiết, bảy</a:t>
            </a:r>
          </a:p>
          <a:p>
            <a:r>
              <a:t>mươi hai ô. Và em vẽ nó hai lớp có chủ đích.</a:t>
            </a:r>
          </a:p>
          <a:p/>
          <a:p>
            <a:r>
              <a:t>Ô nhạt: đã có kịch bản sinh ra và đi qua validate. Bảy mươi hai trên bảy mươi</a:t>
            </a:r>
          </a:p>
          <a:p>
            <a:r>
              <a:t>hai — kín toàn bộ phạm vi converter. Phủ theo cặp trục cũng bảy mươi tư trên bảy</a:t>
            </a:r>
          </a:p>
          <a:p>
            <a:r>
              <a:t>mươi tư.</a:t>
            </a:r>
          </a:p>
          <a:p/>
          <a:p>
            <a:r>
              <a:t>Ô đậm: đã chạy thật trên CARLA. Mười ba trên bảy mươi hai.</a:t>
            </a:r>
          </a:p>
          <a:p/>
          <a:p>
            <a:r>
              <a:t>Em tách hai lớp vì gộp lại một màu là mời người xem hiểu nhầm "phủ một trăm phần</a:t>
            </a:r>
          </a:p>
          <a:p>
            <a:r>
              <a:t>trăm" thành "đã kiểm chứng một trăm phần trăm". Hai chuyện khác nhau, và em</a:t>
            </a:r>
          </a:p>
          <a:p>
            <a:r>
              <a:t>không muốn ai phải hỏi mới biết.</a:t>
            </a:r>
          </a:p>
          <a:p/>
          <a:p>
            <a:r>
              <a:t>Giá trị của hình này vẫn nằm ở chỗ nó nói CHÍNH XÁC còn thiếu gì — giờ là thiếu</a:t>
            </a:r>
          </a:p>
          <a:p>
            <a:r>
              <a:t>lượt chạy, không phải thiếu kịch bản. Danh sách việc tiếp theo đọc thẳng ra từ</a:t>
            </a:r>
          </a:p>
          <a:p>
            <a:r>
              <a:t>đây, không cần họp.</a:t>
            </a:r>
          </a:p>
          <a:p/>
          <a:p>
            <a:r>
              <a:t>Hai con số không thay thế nhau, và em không gộp chúng lại</a:t>
            </a:r>
          </a:p>
          <a:p>
            <a:r>
              <a:t>thành một con số đẹp hơn.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Câu hỏi thật sự: kịch bản sinh ra có nguy hiểm không, hay chỉ chạy cho xong.</a:t>
            </a:r>
          </a:p>
          <a:p/>
          <a:p>
            <a:r>
              <a:t>Ba mươi lăm lượt chạy được. Mười bảy lượt có va chạm thật. Bốn lượt suýt va</a:t>
            </a:r>
          </a:p>
          <a:p>
            <a:r>
              <a:t>chạm, khe hở dưới một mét. Mười bốn lượt không dựng được gì. Tỉ lệ kích hoạt</a:t>
            </a:r>
          </a:p>
          <a:p>
            <a:r>
              <a:t>nguy hiểm là sáu mươi phần trăm.</a:t>
            </a:r>
          </a:p>
          <a:p/>
          <a:p>
            <a:r>
              <a:t>Chỗ cần giải thích: tại sao không chỉ đếm va chạm. Vì có maneuver mà va chạm là</a:t>
            </a:r>
          </a:p>
          <a:p>
            <a:r>
              <a:t>SAI — lệch làn chủ đích dựng tình huống suýt đâm. Nếu chấm bằng CollisionTest thì</a:t>
            </a:r>
          </a:p>
          <a:p>
            <a:r>
              <a:t>mọi kịch bản lệch làn đúng ý đều bị ghi thành thất bại.</a:t>
            </a:r>
          </a:p>
          <a:p/>
          <a:p>
            <a:r>
              <a:t>Nên oracle đọc log quỹ đạo: góc hướng, khe hở nhỏ nhất, độ lệch tim làn.</a:t>
            </a:r>
          </a:p>
          <a:p/>
          <a:p>
            <a:r>
              <a:t>Và đây là phần em muốn nói thẳng: em ngồi xem lại tận mắt mười ba lượt chạy rồi</a:t>
            </a:r>
          </a:p>
          <a:p>
            <a:r>
              <a:t>tự chấm, sau đó mới so với máy. Khớp mười trên mười ba. Ba cái lệch em để nguyên</a:t>
            </a:r>
          </a:p>
          <a:p>
            <a:r>
              <a:t>trên slide — hai cái máy sai, một cái em sai. Con số bảy mươi bảy phần trăm này</a:t>
            </a:r>
          </a:p>
          <a:p>
            <a:r>
              <a:t>mới là thứ nói được oracle đáng tin tới đâu.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Sản phẩm AI mà không biết mình tốn bao nhiêu thì không vận hành được, nên em đo.</a:t>
            </a:r>
          </a:p>
          <a:p/>
          <a:p>
            <a:r>
              <a:t>Hai mươi request thật, chạy trên bản sao database thật. Trung vị hai phẩy tám</a:t>
            </a:r>
          </a:p>
          <a:p>
            <a:r>
              <a:t>giây, p95 bốn phẩy một giây. Chi phí trung vị hai phần nghìn đô một request. Cả</a:t>
            </a:r>
          </a:p>
          <a:p>
            <a:r>
              <a:t>hai mươi request tốn năm xu.</a:t>
            </a:r>
          </a:p>
          <a:p/>
          <a:p>
            <a:r>
              <a:t>Hai chỗ đáng nói.</a:t>
            </a:r>
          </a:p>
          <a:p/>
          <a:p>
            <a:r>
              <a:t>Thứ nhất: ba request thất bại VẪN nằm trong mẫu số. Lọc chúng ra thì p95 đẹp</a:t>
            </a:r>
          </a:p>
          <a:p>
            <a:r>
              <a:t>hơn, nhưng con số đó sẽ là con số nói dối.</a:t>
            </a:r>
          </a:p>
          <a:p/>
          <a:p>
            <a:r>
              <a:t>Thứ hai: gần chín mươi hai phần trăm token đầu vào được đọc từ cache, nhờ prompt</a:t>
            </a:r>
          </a:p>
          <a:p>
            <a:r>
              <a:t>được tách ra và giữ ổn định. Nếu tính giá thường thì hoá đơn gấp ba. Sáu mươi lăm</a:t>
            </a:r>
          </a:p>
          <a:p>
            <a:r>
              <a:t>phần trăm chi phí tiết kiệm đến từ một quyết định kỹ thuật, không phải từ việc</a:t>
            </a:r>
          </a:p>
          <a:p>
            <a:r>
              <a:t>đổi sang model rẻ hơn.</a:t>
            </a:r>
          </a:p>
          <a:p/>
          <a:p>
            <a:r>
              <a:t>Thêm một chi tiết: mười sáu trên hai mươi câu được xử lý bằng parser rule thuần,</a:t>
            </a:r>
          </a:p>
          <a:p>
            <a:r>
              <a:t>không gọi LLM lần nào. LLM chỉ vào cuộc khi rule thiếu thông tin.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này là về cách ra quyết định, không phải về model.</a:t>
            </a:r>
          </a:p>
          <a:p/>
          <a:p>
            <a:r>
              <a:t>Em chạy A/B: cùng hai mươi mô tả, cùng database, chỉ đổi model. Luna rẻ hơn bảy</a:t>
            </a:r>
          </a:p>
          <a:p>
            <a:r>
              <a:t>mươi ba phần trăm. Nếu chỉ nhìn cột chi phí thì đổi ngay.</a:t>
            </a:r>
          </a:p>
          <a:p/>
          <a:p>
            <a:r>
              <a:t>Nhưng nó chậm hơn bốn mươi ba phần trăm ở trung vị, và sáu mươi hai phần trăm ở</a:t>
            </a:r>
          </a:p>
          <a:p>
            <a:r>
              <a:t>p95. Tỉ lệ hoàn tất y hệt — mười bảy trên hai mươi. Nó vẫn trượt đúng ba mô tả</a:t>
            </a:r>
          </a:p>
          <a:p>
            <a:r>
              <a:t>đi ngược chiều mà con kia trượt.</a:t>
            </a:r>
          </a:p>
          <a:p/>
          <a:p>
            <a:r>
              <a:t>Nên: rẻ hơn, không giỏi hơn, chậm hơn rõ rệt. Em giữ model cũ và ghi lại Luna</a:t>
            </a:r>
          </a:p>
          <a:p>
            <a:r>
              <a:t>như phương án dự phòng nếu sau này chi phí trở thành ràng buộc.</a:t>
            </a:r>
          </a:p>
          <a:p/>
          <a:p>
            <a:r>
              <a:t>Em để slide này vào deck vì em nghĩ một A/B dẫn tới quyết định "không đổi" cũng</a:t>
            </a:r>
          </a:p>
          <a:p>
            <a:r>
              <a:t>là một kết quả — miễn là có số để giải thích tại sao.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 nhóm người dùng.</a:t>
            </a:r>
          </a:p>
          <a:p/>
          <a:p>
            <a:r>
              <a:t>Đội phát triển xe tự lái cần tình huống hiếm để thử trước khi ra đường thật. Đội</a:t>
            </a:r>
          </a:p>
          <a:p>
            <a:r>
              <a:t>kiểm thử mô phỏng hiện đang viết mấy file này bằng tay. Và các lab, các trường —</a:t>
            </a:r>
          </a:p>
          <a:p>
            <a:r>
              <a:t>họ cần bộ kịch bản tái lập được để so kết quả nghiên cứu với nhau.</a:t>
            </a:r>
          </a:p>
          <a:p/>
          <a:p>
            <a:r>
              <a:t>Em cố ý không bịa số thị trường ở đây. Em chưa đo, nên em không nói.</a:t>
            </a:r>
          </a:p>
          <a:p/>
          <a:p>
            <a:r>
              <a:t>Điều em muốn chốt: thứ đáng giá không phải "AI sinh XML" — cái đó vài tháng nữa</a:t>
            </a:r>
          </a:p>
          <a:p>
            <a:r>
              <a:t>ai cũng làm được. Thứ đáng giá là một thư viện mà mỗi kịch bản trong đó đều có</a:t>
            </a:r>
          </a:p>
          <a:p>
            <a:r>
              <a:t>kết quả CARLA thật và có người ký duyệt đứng sau. Sinh nhanh là chuyện dễ. Sinh</a:t>
            </a:r>
          </a:p>
          <a:p>
            <a:r>
              <a:t>mà dám dùng mới khó, và hai cổng duyệt kia chính là chỗ đó.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Bốn việc tiếp theo, xếp theo giá trị.</a:t>
            </a:r>
          </a:p>
          <a:p/>
          <a:p>
            <a:r>
              <a:t>Việc lớn nhất, và cũng là chỗ có giá trị thương mại: cắm controller của doanh</a:t>
            </a:r>
          </a:p>
          <a:p>
            <a:r>
              <a:t>nghiệp vào đúng chỗ BehaviorAgent đang đứng. Kiến trúc đã chừa sẵn khe đó —</a:t>
            </a:r>
          </a:p>
          <a:p>
            <a:r>
              <a:t>thêm một adapter ở worker và một giá trị enum, backend không phải sửa gì. Lúc đó</a:t>
            </a:r>
          </a:p>
          <a:p>
            <a:r>
              <a:t>câu hỏi đổi thành "kịch bản nào làm controller CỦA BẠN thất bại", và đó mới là</a:t>
            </a:r>
          </a:p>
          <a:p>
            <a:r>
              <a:t>câu doanh nghiệp trả tiền để trả lời.</a:t>
            </a:r>
          </a:p>
          <a:p/>
          <a:p>
            <a:r>
              <a:t>Việc thứ hai dễ nhất: chạy CARLA cho năm mươi chín ô đã có kịch bản mà chưa có</a:t>
            </a:r>
          </a:p>
          <a:p>
            <a:r>
              <a:t>lượt chạy nào. Phần sinh đã xong, phần còn lại là thời gian máy. Thứ tự đã nằm</a:t>
            </a:r>
          </a:p>
          <a:p>
            <a:r>
              <a:t>sẵn trên slide độ phủ, không cần họp để quyết chạy ô nào trước.</a:t>
            </a:r>
          </a:p>
          <a:p/>
          <a:p>
            <a:r>
              <a:t>Việc thứ ba: mở rộng nhãn người. Hiện em mới ngồi chấm tay mười ba lượt, chủ yếu</a:t>
            </a:r>
          </a:p>
          <a:p>
            <a:r>
              <a:t>quanh các case lỗi đã biết. Càng nhiều nhãn thì con số bảy mươi bảy phần trăm</a:t>
            </a:r>
          </a:p>
          <a:p>
            <a:r>
              <a:t>càng nói được nhiều về oracle.</a:t>
            </a:r>
          </a:p>
          <a:p/>
          <a:p>
            <a:r>
              <a:t>Việc thứ tư là kỹ thuật thuần: siết token và role ở backend, hiện mới phân vai</a:t>
            </a:r>
          </a:p>
          <a:p>
            <a:r>
              <a:t>trên frontend.</a:t>
            </a:r>
          </a:p>
          <a:p/>
          <a:p>
            <a:r>
              <a:t>Repo, live URL, kiến trúc và báo cáo đánh giá đầy đủ ở slide này. Em xin hết,</a:t>
            </a:r>
          </a:p>
          <a:p>
            <a:r>
              <a:t>mời mọi người hỏi.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331720"/>
          </a:xfrm>
          <a:prstGeom prst="rect">
            <a:avLst/>
          </a:prstGeom>
          <a:solidFill>
            <a:srgbClr val="1227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73152"/>
          </a:xfrm>
          <a:prstGeom prst="rect">
            <a:avLst/>
          </a:prstGeom>
          <a:solidFill>
            <a:srgbClr val="E06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731520"/>
            <a:ext cx="98755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4800" b="1" i="0">
                <a:solidFill>
                  <a:srgbClr val="FFFFFF"/>
                </a:solidFill>
                <a:latin typeface="Arial"/>
              </a:rPr>
              <a:t>Scenario Forge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C7D2E8"/>
                </a:solidFill>
                <a:latin typeface="Arial"/>
              </a:rPr>
              <a:t>Một câu tiếng Việt  →  một kịch bản OpenSCENARIO chạy được trên CARLA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97180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5A6472"/>
                </a:solidFill>
                <a:latin typeface="Arial"/>
              </a:rPr>
              <a:t>Kỹ sư mô tả tình huống nguy hiểm bằng tiếng Việt. Hệ thống sinh file .xosc, người duyệt, CARLA chạy thật, rồi mới vào thư viện.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4251960"/>
            <a:ext cx="2304288" cy="1005840"/>
          </a:xfrm>
          <a:prstGeom prst="rect">
            <a:avLst/>
          </a:prstGeom>
          <a:solidFill>
            <a:srgbClr val="F2F4F8"/>
          </a:solidFill>
          <a:ln w="9525">
            <a:solidFill>
              <a:srgbClr val="D5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35024" y="4398264"/>
            <a:ext cx="201168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2F62B8"/>
                </a:solidFill>
                <a:latin typeface="Arial"/>
              </a:rPr>
              <a:t>60,00%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472"/>
                </a:solidFill>
                <a:latin typeface="Arial"/>
              </a:rPr>
              <a:t>lượt chạy có nguy hiểm</a:t>
            </a:r>
          </a:p>
        </p:txBody>
      </p:sp>
      <p:sp>
        <p:nvSpPr>
          <p:cNvPr id="8" name="Rectangle 7"/>
          <p:cNvSpPr/>
          <p:nvPr/>
        </p:nvSpPr>
        <p:spPr>
          <a:xfrm>
            <a:off x="3675888" y="4251960"/>
            <a:ext cx="2304288" cy="1005840"/>
          </a:xfrm>
          <a:prstGeom prst="rect">
            <a:avLst/>
          </a:prstGeom>
          <a:solidFill>
            <a:srgbClr val="F2F4F8"/>
          </a:solidFill>
          <a:ln w="9525">
            <a:solidFill>
              <a:srgbClr val="D5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22192" y="4398264"/>
            <a:ext cx="201168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2F62B8"/>
                </a:solidFill>
                <a:latin typeface="Arial"/>
              </a:rPr>
              <a:t>$0,0023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472"/>
                </a:solidFill>
                <a:latin typeface="Arial"/>
              </a:rPr>
              <a:t>chi phí trung vị / request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63056" y="4251960"/>
            <a:ext cx="2304288" cy="1005840"/>
          </a:xfrm>
          <a:prstGeom prst="rect">
            <a:avLst/>
          </a:prstGeom>
          <a:solidFill>
            <a:srgbClr val="F2F4F8"/>
          </a:solidFill>
          <a:ln w="9525">
            <a:solidFill>
              <a:srgbClr val="D5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4398264"/>
            <a:ext cx="201168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2F62B8"/>
                </a:solidFill>
                <a:latin typeface="Arial"/>
              </a:rPr>
              <a:t>2,77 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472"/>
                </a:solidFill>
                <a:latin typeface="Arial"/>
              </a:rPr>
              <a:t>latency p50 toàn workflow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50224" y="4251960"/>
            <a:ext cx="2304288" cy="1005840"/>
          </a:xfrm>
          <a:prstGeom prst="rect">
            <a:avLst/>
          </a:prstGeom>
          <a:solidFill>
            <a:srgbClr val="F2F4F8"/>
          </a:solidFill>
          <a:ln w="9525">
            <a:solidFill>
              <a:srgbClr val="D5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96528" y="4398264"/>
            <a:ext cx="201168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2F62B8"/>
                </a:solidFill>
                <a:latin typeface="Arial"/>
              </a:rPr>
              <a:t>6/6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472"/>
                </a:solidFill>
                <a:latin typeface="Arial"/>
              </a:rPr>
              <a:t>oracle hành vi trong phạm vi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576072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6472"/>
                </a:solidFill>
                <a:latin typeface="Arial"/>
              </a:rPr>
              <a:t>c4-app-t130.vercel.app   ·   github.com/AI20K-Build-Phase-Cohort-3/P-130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solidFill>
            <a:srgbClr val="2F6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 rot="16200000">
            <a:off x="-1623060" y="3154680"/>
            <a:ext cx="402336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Vấn đề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74320"/>
            <a:ext cx="8778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2275D"/>
                </a:solidFill>
                <a:latin typeface="Arial"/>
              </a:rPr>
              <a:t>Xe tự lái không hỏng ở đường thẳng</a:t>
            </a:r>
          </a:p>
        </p:txBody>
      </p:sp>
      <p:sp>
        <p:nvSpPr>
          <p:cNvPr id="5" name="Rectangle 4"/>
          <p:cNvSpPr/>
          <p:nvPr/>
        </p:nvSpPr>
        <p:spPr>
          <a:xfrm>
            <a:off x="1170432" y="786384"/>
            <a:ext cx="9107424" cy="50292"/>
          </a:xfrm>
          <a:prstGeom prst="rect">
            <a:avLst/>
          </a:prstGeom>
          <a:solidFill>
            <a:srgbClr val="1227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552176" y="786384"/>
            <a:ext cx="1042415" cy="50292"/>
          </a:xfrm>
          <a:prstGeom prst="rect">
            <a:avLst/>
          </a:prstGeom>
          <a:solidFill>
            <a:srgbClr val="E06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310896"/>
            <a:ext cx="217627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472"/>
                </a:solidFill>
                <a:latin typeface="Arial"/>
              </a:rPr>
              <a:t>Scenario Forge · P-130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472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143000"/>
            <a:ext cx="10424159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600"/>
              </a:spcAft>
            </a:pPr>
            <a:r>
              <a:rPr sz="2000" b="0" i="0">
                <a:solidFill>
                  <a:srgbClr val="12275D"/>
                </a:solidFill>
                <a:latin typeface="Arial"/>
              </a:rPr>
              <a:t>•  Nó hỏng ở tình huống hiếm: bị tạt đầu, xe ngược chiều, vượt đèn đỏ.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600"/>
              </a:spcAft>
            </a:pPr>
            <a:r>
              <a:rPr sz="2000" b="0" i="0">
                <a:solidFill>
                  <a:srgbClr val="12275D"/>
                </a:solidFill>
                <a:latin typeface="Arial"/>
              </a:rPr>
              <a:t>•  Muốn thử những tình huống đó thì phải có kịch bản mô phỏng.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600"/>
              </a:spcAft>
            </a:pPr>
            <a:r>
              <a:rPr sz="2000" b="0" i="0">
                <a:solidFill>
                  <a:srgbClr val="12275D"/>
                </a:solidFill>
                <a:latin typeface="Arial"/>
              </a:rPr>
              <a:t>•  Kịch bản là file XML hàng trăm dòng, viết tay, dễ sai hình học.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88720" y="3246120"/>
            <a:ext cx="3200400" cy="1234440"/>
          </a:xfrm>
          <a:prstGeom prst="rect">
            <a:avLst/>
          </a:prstGeom>
          <a:solidFill>
            <a:srgbClr val="F2F4F8"/>
          </a:solidFill>
          <a:ln w="9525">
            <a:solidFill>
              <a:srgbClr val="D5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12275D"/>
                </a:solidFill>
                <a:latin typeface="Arial"/>
              </a:rPr>
              <a:t>Người biết tình huống nguy hiểm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12275D"/>
                </a:solidFill>
                <a:latin typeface="Arial"/>
              </a:rPr>
              <a:t>kỹ sư kiểm thử, người lái thử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572000" y="3721608"/>
            <a:ext cx="777240" cy="274320"/>
          </a:xfrm>
          <a:prstGeom prst="rightArrow">
            <a:avLst/>
          </a:prstGeom>
          <a:solidFill>
            <a:srgbClr val="8A8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532120" y="3246120"/>
            <a:ext cx="320040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E06C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E06C1F"/>
                </a:solidFill>
                <a:latin typeface="Arial"/>
              </a:rPr>
              <a:t>Khoảng trống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E06C1F"/>
                </a:solidFill>
                <a:latin typeface="Arial"/>
              </a:rPr>
              <a:t>OpenSCENARIO, toạ độ làn, trigger, XSD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915400" y="3721608"/>
            <a:ext cx="777240" cy="274320"/>
          </a:xfrm>
          <a:prstGeom prst="rightArrow">
            <a:avLst/>
          </a:prstGeom>
          <a:solidFill>
            <a:srgbClr val="8A8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875520" y="3246120"/>
            <a:ext cx="1737360" cy="1234440"/>
          </a:xfrm>
          <a:prstGeom prst="rect">
            <a:avLst/>
          </a:prstGeom>
          <a:solidFill>
            <a:srgbClr val="F2F4F8"/>
          </a:solidFill>
          <a:ln w="9525">
            <a:solidFill>
              <a:srgbClr val="D5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12275D"/>
                </a:solidFill>
                <a:latin typeface="Arial"/>
              </a:rPr>
              <a:t>.xosc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12275D"/>
                </a:solidFill>
                <a:latin typeface="Arial"/>
              </a:rPr>
              <a:t>chạy được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5074920"/>
            <a:ext cx="1042415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2275D"/>
                </a:solidFill>
                <a:latin typeface="Arial"/>
              </a:rPr>
              <a:t>Hai đầu là hai kỹ năng khác nhau. Ở giữa là chỗ mọi thứ tắc.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solidFill>
            <a:srgbClr val="2F6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 rot="16200000">
            <a:off x="-1623060" y="3154680"/>
            <a:ext cx="402336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Giải pháp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74320"/>
            <a:ext cx="8778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2275D"/>
                </a:solidFill>
                <a:latin typeface="Arial"/>
              </a:rPr>
              <a:t>Vào một câu. Ra một file chạy được.</a:t>
            </a:r>
          </a:p>
        </p:txBody>
      </p:sp>
      <p:sp>
        <p:nvSpPr>
          <p:cNvPr id="5" name="Rectangle 4"/>
          <p:cNvSpPr/>
          <p:nvPr/>
        </p:nvSpPr>
        <p:spPr>
          <a:xfrm>
            <a:off x="1170432" y="786384"/>
            <a:ext cx="9107424" cy="50292"/>
          </a:xfrm>
          <a:prstGeom prst="rect">
            <a:avLst/>
          </a:prstGeom>
          <a:solidFill>
            <a:srgbClr val="1227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552176" y="786384"/>
            <a:ext cx="1042415" cy="50292"/>
          </a:xfrm>
          <a:prstGeom prst="rect">
            <a:avLst/>
          </a:prstGeom>
          <a:solidFill>
            <a:srgbClr val="E06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310896"/>
            <a:ext cx="217627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472"/>
                </a:solidFill>
                <a:latin typeface="Arial"/>
              </a:rPr>
              <a:t>Scenario Forge · P-130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472"/>
                </a:solidFill>
                <a:latin typeface="Arial"/>
              </a:rPr>
              <a:t>3</a:t>
            </a:r>
          </a:p>
        </p:txBody>
      </p:sp>
      <p:sp>
        <p:nvSpPr>
          <p:cNvPr id="9" name="Rectangle 8"/>
          <p:cNvSpPr/>
          <p:nvPr/>
        </p:nvSpPr>
        <p:spPr>
          <a:xfrm>
            <a:off x="1188720" y="1234440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89888" y="1417320"/>
            <a:ext cx="37947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5A6472"/>
                </a:solidFill>
                <a:latin typeface="Arial"/>
              </a:rPr>
              <a:t>INPUT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2275D"/>
                </a:solidFill>
                <a:latin typeface="Arial"/>
              </a:rPr>
              <a:t>“Xe máy chạy 80 km/h ở làn bên trái, vượt lên từ phía sau ô tô, tạt đầu rồi phanh gấp còn 40 km/h. Trời quang, cao tốc.”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577840" y="1920240"/>
            <a:ext cx="685800" cy="310896"/>
          </a:xfrm>
          <a:prstGeom prst="rightArrow">
            <a:avLst/>
          </a:prstGeom>
          <a:solidFill>
            <a:srgbClr val="2F6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92240" y="1234440"/>
            <a:ext cx="2331720" cy="1691640"/>
          </a:xfrm>
          <a:prstGeom prst="rect">
            <a:avLst/>
          </a:prstGeom>
          <a:solidFill>
            <a:srgbClr val="1227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Scenario Forge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>7 node · LLM + code tất định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9052560" y="1920240"/>
            <a:ext cx="685800" cy="310896"/>
          </a:xfrm>
          <a:prstGeom prst="rightArrow">
            <a:avLst/>
          </a:prstGeom>
          <a:solidFill>
            <a:srgbClr val="2F6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966960" y="1234440"/>
            <a:ext cx="1645920" cy="1691640"/>
          </a:xfrm>
          <a:prstGeom prst="rect">
            <a:avLst/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.xosc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>OpenSCENARIO 1.0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88720" y="3246120"/>
            <a:ext cx="10424159" cy="1417320"/>
          </a:xfrm>
          <a:prstGeom prst="rect">
            <a:avLst/>
          </a:prstGeom>
          <a:solidFill>
            <a:srgbClr val="F2F4F8"/>
          </a:solidFill>
          <a:ln w="9525">
            <a:solidFill>
              <a:srgbClr val="D5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44752" y="3401568"/>
            <a:ext cx="9912095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 i="0">
                <a:solidFill>
                  <a:srgbClr val="5A6472"/>
                </a:solidFill>
                <a:latin typeface="Arial"/>
              </a:rPr>
              <a:t>OUTPUT — actors, vị trí theo làn, tốc độ, action, trigger, thời tiết, tiêu chí chấm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12275D"/>
                </a:solidFill>
                <a:latin typeface="Consolas"/>
              </a:rPr>
              <a:t>&lt;RelativeLanePosition entityRef="hero" dLane="-1" ds="-25.0"/&gt;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12275D"/>
                </a:solidFill>
                <a:latin typeface="Consolas"/>
              </a:rPr>
              <a:t>&lt;AbsoluteSpeedAction value="22.2"/&gt;   &lt;!-- 80 km/h --&gt;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2275D"/>
                </a:solidFill>
                <a:latin typeface="Consolas"/>
              </a:rPr>
              <a:t>&lt;ReachPositionCondition tolerance="7.0"/&gt;  &lt;!-- cut-in: da dan 7 m --&gt;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937760"/>
            <a:ext cx="1042415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2275D"/>
                </a:solidFill>
                <a:latin typeface="Arial"/>
              </a:rPr>
              <a:t>Tải .xosc để chạy trên CARLA/ScenarioRunner — không cần viết XML thủ công.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solidFill>
            <a:srgbClr val="2F6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 rot="16200000">
            <a:off x="-1623060" y="3154680"/>
            <a:ext cx="402336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74320"/>
            <a:ext cx="8778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2275D"/>
                </a:solidFill>
                <a:latin typeface="Arial"/>
              </a:rPr>
              <a:t>Sáu tình huống đang sinh được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6309360"/>
            <a:ext cx="9326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5A6472"/>
                </a:solidFill>
                <a:latin typeface="Arial"/>
              </a:rPr>
              <a:t>Ảnh minh hoạ tình huống; kết quả chạy thật trong video demo.</a:t>
            </a:r>
          </a:p>
        </p:txBody>
      </p:sp>
      <p:sp>
        <p:nvSpPr>
          <p:cNvPr id="6" name="Rectangle 5"/>
          <p:cNvSpPr/>
          <p:nvPr/>
        </p:nvSpPr>
        <p:spPr>
          <a:xfrm>
            <a:off x="1170432" y="786384"/>
            <a:ext cx="9107424" cy="50292"/>
          </a:xfrm>
          <a:prstGeom prst="rect">
            <a:avLst/>
          </a:prstGeom>
          <a:solidFill>
            <a:srgbClr val="1227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552176" y="786384"/>
            <a:ext cx="1042415" cy="50292"/>
          </a:xfrm>
          <a:prstGeom prst="rect">
            <a:avLst/>
          </a:prstGeom>
          <a:solidFill>
            <a:srgbClr val="E06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0" y="310896"/>
            <a:ext cx="217627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472"/>
                </a:solidFill>
                <a:latin typeface="Arial"/>
              </a:rPr>
              <a:t>Scenario Forge · P-130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472"/>
                </a:solidFill>
                <a:latin typeface="Arial"/>
              </a:rPr>
              <a:t>4</a:t>
            </a:r>
          </a:p>
        </p:txBody>
      </p:sp>
      <p:pic>
        <p:nvPicPr>
          <p:cNvPr id="10" name="Picture 9" descr="tile_cut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1188720"/>
            <a:ext cx="3246120" cy="158191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88720" y="2825496"/>
            <a:ext cx="324612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12275D"/>
                </a:solidFill>
                <a:latin typeface="Arial"/>
              </a:rPr>
              <a:t>Tạt đầu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472"/>
                </a:solidFill>
                <a:latin typeface="Consolas"/>
              </a:rPr>
              <a:t>cut_in</a:t>
            </a:r>
          </a:p>
        </p:txBody>
      </p:sp>
      <p:pic>
        <p:nvPicPr>
          <p:cNvPr id="12" name="Picture 11" descr="tile_lane_dri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0872" y="1188720"/>
            <a:ext cx="3246120" cy="158191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690872" y="2825496"/>
            <a:ext cx="324612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12275D"/>
                </a:solidFill>
                <a:latin typeface="Arial"/>
              </a:rPr>
              <a:t>Lệch làn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472"/>
                </a:solidFill>
                <a:latin typeface="Consolas"/>
              </a:rPr>
              <a:t>lane_drift</a:t>
            </a:r>
          </a:p>
        </p:txBody>
      </p:sp>
      <p:pic>
        <p:nvPicPr>
          <p:cNvPr id="14" name="Picture 13" descr="tile_sudden_brak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3024" y="1188720"/>
            <a:ext cx="3246120" cy="158191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193024" y="2825496"/>
            <a:ext cx="324612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12275D"/>
                </a:solidFill>
                <a:latin typeface="Arial"/>
              </a:rPr>
              <a:t>Phanh gấp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472"/>
                </a:solidFill>
                <a:latin typeface="Consolas"/>
              </a:rPr>
              <a:t>sudden_brake</a:t>
            </a:r>
          </a:p>
        </p:txBody>
      </p:sp>
      <p:pic>
        <p:nvPicPr>
          <p:cNvPr id="16" name="Picture 15" descr="tile_stop_in_lan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8720" y="3337560"/>
            <a:ext cx="3246120" cy="158191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188720" y="4974336"/>
            <a:ext cx="324612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12275D"/>
                </a:solidFill>
                <a:latin typeface="Arial"/>
              </a:rPr>
              <a:t>Dừng giữa làn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472"/>
                </a:solidFill>
                <a:latin typeface="Consolas"/>
              </a:rPr>
              <a:t>stop_in_lane</a:t>
            </a:r>
          </a:p>
        </p:txBody>
      </p:sp>
      <p:pic>
        <p:nvPicPr>
          <p:cNvPr id="18" name="Picture 17" descr="tile_wrong_wa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90872" y="3337560"/>
            <a:ext cx="3246120" cy="158191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690872" y="4974336"/>
            <a:ext cx="324612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12275D"/>
                </a:solidFill>
                <a:latin typeface="Arial"/>
              </a:rPr>
              <a:t>Đi ngược chiều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472"/>
                </a:solidFill>
                <a:latin typeface="Consolas"/>
              </a:rPr>
              <a:t>wrong_way</a:t>
            </a:r>
          </a:p>
        </p:txBody>
      </p:sp>
      <p:pic>
        <p:nvPicPr>
          <p:cNvPr id="20" name="Picture 19" descr="tile_run_red_ligh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93024" y="3337560"/>
            <a:ext cx="3246120" cy="158191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193024" y="4974336"/>
            <a:ext cx="324612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12275D"/>
                </a:solidFill>
                <a:latin typeface="Arial"/>
              </a:rPr>
              <a:t>Vượt đèn đỏ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472"/>
                </a:solidFill>
                <a:latin typeface="Consolas"/>
              </a:rPr>
              <a:t>run_red_light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solidFill>
            <a:srgbClr val="E06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 rot="16200000">
            <a:off x="-1623060" y="3154680"/>
            <a:ext cx="402336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Cách làm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74320"/>
            <a:ext cx="8778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2275D"/>
                </a:solidFill>
                <a:latin typeface="Arial"/>
              </a:rPr>
              <a:t>Bên trong: 7 node, LLM chỉ làm 3</a:t>
            </a:r>
          </a:p>
        </p:txBody>
      </p:sp>
      <p:sp>
        <p:nvSpPr>
          <p:cNvPr id="5" name="Rectangle 4"/>
          <p:cNvSpPr/>
          <p:nvPr/>
        </p:nvSpPr>
        <p:spPr>
          <a:xfrm>
            <a:off x="1170432" y="786384"/>
            <a:ext cx="9107424" cy="50292"/>
          </a:xfrm>
          <a:prstGeom prst="rect">
            <a:avLst/>
          </a:prstGeom>
          <a:solidFill>
            <a:srgbClr val="1227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552176" y="786384"/>
            <a:ext cx="1042415" cy="50292"/>
          </a:xfrm>
          <a:prstGeom prst="rect">
            <a:avLst/>
          </a:prstGeom>
          <a:solidFill>
            <a:srgbClr val="E06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310896"/>
            <a:ext cx="217627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472"/>
                </a:solidFill>
                <a:latin typeface="Arial"/>
              </a:rPr>
              <a:t>Scenario Forge · P-130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472"/>
                </a:solidFill>
                <a:latin typeface="Arial"/>
              </a:rPr>
              <a:t>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88720" y="1600200"/>
            <a:ext cx="1572768" cy="777240"/>
          </a:xfrm>
          <a:prstGeom prst="roundRect">
            <a:avLst/>
          </a:prstGeom>
          <a:solidFill>
            <a:srgbClr val="E06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FFFFFF"/>
                </a:solidFill>
                <a:latin typeface="Arial"/>
              </a:rPr>
              <a:t>parse_intent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788920" y="1865376"/>
            <a:ext cx="182880" cy="237744"/>
          </a:xfrm>
          <a:prstGeom prst="rightArrow">
            <a:avLst/>
          </a:prstGeom>
          <a:solidFill>
            <a:srgbClr val="8A8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999232" y="1600200"/>
            <a:ext cx="1572768" cy="7772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F62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12275D"/>
                </a:solidFill>
                <a:latin typeface="Arial"/>
              </a:rPr>
              <a:t>retrieve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599432" y="1865376"/>
            <a:ext cx="182880" cy="237744"/>
          </a:xfrm>
          <a:prstGeom prst="rightArrow">
            <a:avLst/>
          </a:prstGeom>
          <a:solidFill>
            <a:srgbClr val="8A8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809744" y="1600200"/>
            <a:ext cx="1572768" cy="777240"/>
          </a:xfrm>
          <a:prstGeom prst="roundRect">
            <a:avLst/>
          </a:prstGeom>
          <a:solidFill>
            <a:srgbClr val="E06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FFFFFF"/>
                </a:solidFill>
                <a:latin typeface="Arial"/>
              </a:rPr>
              <a:t>generate_draft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409944" y="1865376"/>
            <a:ext cx="182880" cy="237744"/>
          </a:xfrm>
          <a:prstGeom prst="rightArrow">
            <a:avLst/>
          </a:prstGeom>
          <a:solidFill>
            <a:srgbClr val="8A8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620255" y="1600200"/>
            <a:ext cx="1572768" cy="7772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F62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12275D"/>
                </a:solidFill>
                <a:latin typeface="Arial"/>
              </a:rPr>
              <a:t>validate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220455" y="1865376"/>
            <a:ext cx="182880" cy="237744"/>
          </a:xfrm>
          <a:prstGeom prst="rightArrow">
            <a:avLst/>
          </a:prstGeom>
          <a:solidFill>
            <a:srgbClr val="8A8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30768" y="1600200"/>
            <a:ext cx="1572768" cy="7772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F62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12275D"/>
                </a:solidFill>
                <a:latin typeface="Arial"/>
              </a:rPr>
              <a:t>convert_xosc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10030968" y="1865376"/>
            <a:ext cx="182880" cy="237744"/>
          </a:xfrm>
          <a:prstGeom prst="rightArrow">
            <a:avLst/>
          </a:prstGeom>
          <a:solidFill>
            <a:srgbClr val="8A8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241280" y="1600200"/>
            <a:ext cx="1572768" cy="7772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F62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12275D"/>
                </a:solidFill>
                <a:latin typeface="Arial"/>
              </a:rPr>
              <a:t>persist +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12275D"/>
                </a:solidFill>
                <a:latin typeface="Arial"/>
              </a:rPr>
              <a:t>chờ duyệt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20255" y="2880360"/>
            <a:ext cx="1572768" cy="777240"/>
          </a:xfrm>
          <a:prstGeom prst="roundRect">
            <a:avLst/>
          </a:prstGeom>
          <a:solidFill>
            <a:srgbClr val="E06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FFFFFF"/>
                </a:solidFill>
                <a:latin typeface="Arial"/>
              </a:rPr>
              <a:t>repair_draft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6940295" y="2404872"/>
            <a:ext cx="182880" cy="475488"/>
          </a:xfrm>
          <a:prstGeom prst="downArrow">
            <a:avLst/>
          </a:prstGeom>
          <a:solidFill>
            <a:srgbClr val="8A8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Up Arrow 21"/>
          <p:cNvSpPr/>
          <p:nvPr/>
        </p:nvSpPr>
        <p:spPr>
          <a:xfrm>
            <a:off x="7690104" y="2404872"/>
            <a:ext cx="182880" cy="475488"/>
          </a:xfrm>
          <a:prstGeom prst="upArrow">
            <a:avLst/>
          </a:prstGeom>
          <a:solidFill>
            <a:srgbClr val="8A8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84463" y="3063240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472"/>
                </a:solidFill>
                <a:latin typeface="Arial"/>
              </a:rPr>
              <a:t>tối đa 3 vòng,
rồi mới chịu thua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88720" y="4018787"/>
            <a:ext cx="146304" cy="146304"/>
          </a:xfrm>
          <a:prstGeom prst="rect">
            <a:avLst/>
          </a:prstGeom>
          <a:solidFill>
            <a:srgbClr val="E06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08176" y="3977639"/>
            <a:ext cx="237744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472"/>
                </a:solidFill>
                <a:latin typeface="Arial"/>
              </a:rPr>
              <a:t>LLM sinh nội dung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80536" y="4018787"/>
            <a:ext cx="146304" cy="146304"/>
          </a:xfrm>
          <a:prstGeom prst="rect">
            <a:avLst/>
          </a:prstGeom>
          <a:solidFill>
            <a:srgbClr val="FFFFFF"/>
          </a:solidFill>
          <a:ln w="15875">
            <a:solidFill>
              <a:srgbClr val="2F62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99992" y="3977639"/>
            <a:ext cx="237744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472"/>
                </a:solidFill>
                <a:latin typeface="Arial"/>
              </a:rPr>
              <a:t>code tất định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4526280"/>
            <a:ext cx="10424159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0" i="0">
                <a:solidFill>
                  <a:srgbClr val="12275D"/>
                </a:solidFill>
                <a:latin typeface="Arial"/>
              </a:rPr>
              <a:t>•  LLM sinh nội dung có cấu trúc, không bao giờ sinh thẳng XML.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0" i="0">
                <a:solidFill>
                  <a:srgbClr val="12275D"/>
                </a:solidFill>
                <a:latin typeface="Arial"/>
              </a:rPr>
              <a:t>•  Thứ tự node, nhánh lỗi và trần 3 vòng do code quyết định.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0" i="0">
                <a:solidFill>
                  <a:srgbClr val="12275D"/>
                </a:solidFill>
                <a:latin typeface="Arial"/>
              </a:rPr>
              <a:t>•  Validator bắt hình học vô nghĩa trước khi tốn một giây GPU nào.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solidFill>
            <a:srgbClr val="E06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 rot="16200000">
            <a:off x="-1623060" y="3154680"/>
            <a:ext cx="402336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Cách làm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74320"/>
            <a:ext cx="8778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2275D"/>
                </a:solidFill>
                <a:latin typeface="Arial"/>
              </a:rPr>
              <a:t>Không có gì tự vào thư viện</a:t>
            </a:r>
          </a:p>
        </p:txBody>
      </p:sp>
      <p:sp>
        <p:nvSpPr>
          <p:cNvPr id="5" name="Rectangle 4"/>
          <p:cNvSpPr/>
          <p:nvPr/>
        </p:nvSpPr>
        <p:spPr>
          <a:xfrm>
            <a:off x="1170432" y="786384"/>
            <a:ext cx="9107424" cy="50292"/>
          </a:xfrm>
          <a:prstGeom prst="rect">
            <a:avLst/>
          </a:prstGeom>
          <a:solidFill>
            <a:srgbClr val="1227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552176" y="786384"/>
            <a:ext cx="1042415" cy="50292"/>
          </a:xfrm>
          <a:prstGeom prst="rect">
            <a:avLst/>
          </a:prstGeom>
          <a:solidFill>
            <a:srgbClr val="E06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310896"/>
            <a:ext cx="217627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472"/>
                </a:solidFill>
                <a:latin typeface="Arial"/>
              </a:rPr>
              <a:t>Scenario Forge · P-130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472"/>
                </a:solidFill>
                <a:latin typeface="Arial"/>
              </a:rPr>
              <a:t>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88720" y="1417320"/>
            <a:ext cx="1874519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2275D"/>
                </a:solidFill>
                <a:latin typeface="Arial"/>
              </a:rPr>
              <a:t>.xosc vừa sinh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12275D"/>
                </a:solidFill>
                <a:latin typeface="Arial"/>
              </a:rPr>
              <a:t>chờ duyệt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090671" y="1801368"/>
            <a:ext cx="219456" cy="274320"/>
          </a:xfrm>
          <a:prstGeom prst="rightArrow">
            <a:avLst/>
          </a:prstGeom>
          <a:solidFill>
            <a:srgbClr val="8A8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337559" y="1417320"/>
            <a:ext cx="1965960" cy="1051560"/>
          </a:xfrm>
          <a:prstGeom prst="roundRect">
            <a:avLst/>
          </a:prstGeom>
          <a:solidFill>
            <a:srgbClr val="E06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CỔNG 1 — người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FFFFFF"/>
                </a:solidFill>
                <a:latin typeface="Arial"/>
              </a:rPr>
              <a:t>cấp phép dùng GPU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330951" y="1801368"/>
            <a:ext cx="219456" cy="274320"/>
          </a:xfrm>
          <a:prstGeom prst="rightArrow">
            <a:avLst/>
          </a:prstGeom>
          <a:solidFill>
            <a:srgbClr val="8A8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577839" y="1417320"/>
            <a:ext cx="1874519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2275D"/>
                </a:solidFill>
                <a:latin typeface="Arial"/>
              </a:rPr>
              <a:t>CARLA chạy thật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12275D"/>
                </a:solidFill>
                <a:latin typeface="Arial"/>
              </a:rPr>
              <a:t>trace + criteria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479791" y="1801368"/>
            <a:ext cx="219456" cy="274320"/>
          </a:xfrm>
          <a:prstGeom prst="rightArrow">
            <a:avLst/>
          </a:prstGeom>
          <a:solidFill>
            <a:srgbClr val="8A8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726679" y="1417320"/>
            <a:ext cx="1965960" cy="1051560"/>
          </a:xfrm>
          <a:prstGeom prst="roundRect">
            <a:avLst/>
          </a:prstGeom>
          <a:solidFill>
            <a:srgbClr val="E06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CỔNG 2 — người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FFFFFF"/>
                </a:solidFill>
                <a:latin typeface="Arial"/>
              </a:rPr>
              <a:t>xem bằng chứng thật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720072" y="1801368"/>
            <a:ext cx="219456" cy="274320"/>
          </a:xfrm>
          <a:prstGeom prst="rightArrow">
            <a:avLst/>
          </a:prstGeom>
          <a:solidFill>
            <a:srgbClr val="8A8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966960" y="1417320"/>
            <a:ext cx="1600200" cy="1051560"/>
          </a:xfrm>
          <a:prstGeom prst="roundRect">
            <a:avLst/>
          </a:prstGeom>
          <a:solidFill>
            <a:srgbClr val="2F6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Thư viện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FFFFFF"/>
                </a:solidFill>
                <a:latin typeface="Arial"/>
              </a:rPr>
              <a:t>mới có embedding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2651760"/>
            <a:ext cx="104241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5A6472"/>
                </a:solidFill>
                <a:latin typeface="Arial"/>
              </a:rPr>
              <a:t>reject ở bất kỳ cổng nào đều phải kèm lý do — lý do được lưu lại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3291840"/>
            <a:ext cx="10424159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600"/>
              </a:spcAft>
            </a:pPr>
            <a:r>
              <a:rPr sz="1900" b="0" i="0">
                <a:solidFill>
                  <a:srgbClr val="12275D"/>
                </a:solidFill>
                <a:latin typeface="Arial"/>
              </a:rPr>
              <a:t>•  Cổng 1 bảo vệ GPU: không duyệt thì không tiêu một giây máy nào.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600"/>
              </a:spcAft>
            </a:pPr>
            <a:r>
              <a:rPr sz="1900" b="0" i="0">
                <a:solidFill>
                  <a:srgbClr val="12275D"/>
                </a:solidFill>
                <a:latin typeface="Arial"/>
              </a:rPr>
              <a:t>•  Cổng 2 bảo vệ dữ liệu: chỉ duyệt khi đã xem kết quả CARLA thật.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600"/>
              </a:spcAft>
            </a:pPr>
            <a:r>
              <a:rPr sz="1900" b="0" i="0">
                <a:solidFill>
                  <a:srgbClr val="12275D"/>
                </a:solidFill>
                <a:latin typeface="Arial"/>
              </a:rPr>
              <a:t>•  Chỉ kịch bản qua cổng 2 mới được làm ví dụ cho lần sinh sau.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5349240"/>
            <a:ext cx="1042415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2275D"/>
                </a:solidFill>
                <a:latin typeface="Arial"/>
              </a:rPr>
              <a:t>AI đề xuất. Người quyết định. Thư viện không tự bẩn.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solidFill>
            <a:srgbClr val="E06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 rot="16200000">
            <a:off x="-1623060" y="3154680"/>
            <a:ext cx="402336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Cách làm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74320"/>
            <a:ext cx="8778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2275D"/>
                </a:solidFill>
                <a:latin typeface="Arial"/>
              </a:rPr>
              <a:t>Kiến trúc &amp; tech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1170432" y="786384"/>
            <a:ext cx="9107424" cy="50292"/>
          </a:xfrm>
          <a:prstGeom prst="rect">
            <a:avLst/>
          </a:prstGeom>
          <a:solidFill>
            <a:srgbClr val="1227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552176" y="786384"/>
            <a:ext cx="1042415" cy="50292"/>
          </a:xfrm>
          <a:prstGeom prst="rect">
            <a:avLst/>
          </a:prstGeom>
          <a:solidFill>
            <a:srgbClr val="E06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310896"/>
            <a:ext cx="217627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472"/>
                </a:solidFill>
                <a:latin typeface="Arial"/>
              </a:rPr>
              <a:t>Scenario Forge · P-130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472"/>
                </a:solidFill>
                <a:latin typeface="Arial"/>
              </a:rPr>
              <a:t>7</a:t>
            </a:r>
          </a:p>
        </p:txBody>
      </p:sp>
      <p:sp>
        <p:nvSpPr>
          <p:cNvPr id="9" name="Rectangle 8"/>
          <p:cNvSpPr/>
          <p:nvPr/>
        </p:nvSpPr>
        <p:spPr>
          <a:xfrm>
            <a:off x="1188720" y="1234440"/>
            <a:ext cx="23317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12275D"/>
                </a:solidFill>
                <a:latin typeface="Arial"/>
              </a:rPr>
              <a:t>Web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12275D"/>
                </a:solidFill>
                <a:latin typeface="Arial"/>
              </a:rPr>
              <a:t>Next.js · React · Vercel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584448" y="1783080"/>
            <a:ext cx="274320" cy="237744"/>
          </a:xfrm>
          <a:prstGeom prst="rightArrow">
            <a:avLst/>
          </a:prstGeom>
          <a:solidFill>
            <a:srgbClr val="8A8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931920" y="1097280"/>
            <a:ext cx="3931920" cy="2331720"/>
          </a:xfrm>
          <a:prstGeom prst="rect">
            <a:avLst/>
          </a:prstGeom>
          <a:solidFill>
            <a:srgbClr val="F2F4F8"/>
          </a:solidFill>
          <a:ln w="15875">
            <a:solidFill>
              <a:srgbClr val="2F62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0" y="1234440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275D"/>
                </a:solidFill>
                <a:latin typeface="Arial"/>
              </a:rPr>
              <a:t>Backend · Python 3.11 · FastAPI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1691640"/>
            <a:ext cx="34747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6472"/>
                </a:solidFill>
                <a:latin typeface="Arial"/>
              </a:rPr>
              <a:t>· LangGraph — 7 node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2093976"/>
            <a:ext cx="34747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6472"/>
                </a:solidFill>
                <a:latin typeface="Arial"/>
              </a:rPr>
              <a:t>· Converter tất định → XML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2496312"/>
            <a:ext cx="34747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6472"/>
                </a:solidFill>
                <a:latin typeface="Arial"/>
              </a:rPr>
              <a:t>· Retriever: SQLite BLOB + cosine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2898648"/>
            <a:ext cx="34747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6472"/>
                </a:solidFill>
                <a:latin typeface="Arial"/>
              </a:rPr>
              <a:t>· SQLite (dev) · Postgres (deploy)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931920" y="3703320"/>
            <a:ext cx="3931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12275D"/>
                </a:solidFill>
                <a:latin typeface="Arial"/>
              </a:rPr>
              <a:t>LLM gateway — gpt-5.4-mini + text-embedding-3-small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5806440" y="3456432"/>
            <a:ext cx="201168" cy="274320"/>
          </a:xfrm>
          <a:prstGeom prst="downArrow">
            <a:avLst/>
          </a:prstGeom>
          <a:solidFill>
            <a:srgbClr val="8A8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ight Arrow 18"/>
          <p:cNvSpPr/>
          <p:nvPr/>
        </p:nvSpPr>
        <p:spPr>
          <a:xfrm>
            <a:off x="7936992" y="1783080"/>
            <a:ext cx="274320" cy="237744"/>
          </a:xfrm>
          <a:prstGeom prst="rightArrow">
            <a:avLst/>
          </a:prstGeom>
          <a:solidFill>
            <a:srgbClr val="8A8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84464" y="1097280"/>
            <a:ext cx="33375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2275D"/>
                </a:solidFill>
                <a:latin typeface="Arial"/>
              </a:rPr>
              <a:t>GPU worker · Python 3.10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12275D"/>
                </a:solidFill>
                <a:latin typeface="Arial"/>
              </a:rPr>
              <a:t>pull job, không nhận object Python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9857232" y="2331720"/>
            <a:ext cx="201168" cy="274320"/>
          </a:xfrm>
          <a:prstGeom prst="downArrow">
            <a:avLst/>
          </a:prstGeom>
          <a:solidFill>
            <a:srgbClr val="8A8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84464" y="2670048"/>
            <a:ext cx="3337560" cy="1188720"/>
          </a:xfrm>
          <a:prstGeom prst="rect">
            <a:avLst/>
          </a:prstGeom>
          <a:solidFill>
            <a:srgbClr val="1227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CARLA 0.9.15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FFFFFF"/>
                </a:solidFill>
                <a:latin typeface="Arial"/>
              </a:rPr>
              <a:t>+ ScenarioRunner 0.9.15 · Town04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4526280"/>
            <a:ext cx="10424159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0" i="0">
                <a:solidFill>
                  <a:srgbClr val="12275D"/>
                </a:solidFill>
                <a:latin typeface="Arial"/>
              </a:rPr>
              <a:t>•  Backend cloud không import carla — worker chỉ nhận chuỗi XML.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0" i="0">
                <a:solidFill>
                  <a:srgbClr val="12275D"/>
                </a:solidFill>
                <a:latin typeface="Arial"/>
              </a:rPr>
              <a:t>•  Worker offline vẫn sinh/duyệt/tải file được; job nằm chờ trong hàng đợi.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0" i="0">
                <a:solidFill>
                  <a:srgbClr val="12275D"/>
                </a:solidFill>
                <a:latin typeface="Arial"/>
              </a:rPr>
              <a:t>•  483 test pass · 21 skip · CI test chặn mọi lần gọi LLM tính tiền.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solidFill>
            <a:srgbClr val="E06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 rot="16200000">
            <a:off x="-1623060" y="3154680"/>
            <a:ext cx="402336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Nâng cao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74320"/>
            <a:ext cx="8778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2275D"/>
                </a:solidFill>
                <a:latin typeface="Arial"/>
              </a:rPr>
              <a:t>Từ một kịch bản đến một chiến dịch đánh giá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6309360"/>
            <a:ext cx="9326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5A6472"/>
                </a:solidFill>
                <a:latin typeface="Arial"/>
              </a:rPr>
              <a:t>Layer này nằm ngoài graph 7 node — không sửa node nào, chỉ thêm một lối vào theo lô và một phép so controller.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1170432" y="786384"/>
            <a:ext cx="9107424" cy="50292"/>
          </a:xfrm>
          <a:prstGeom prst="rect">
            <a:avLst/>
          </a:prstGeom>
          <a:solidFill>
            <a:srgbClr val="1227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552176" y="786384"/>
            <a:ext cx="1042415" cy="50292"/>
          </a:xfrm>
          <a:prstGeom prst="rect">
            <a:avLst/>
          </a:prstGeom>
          <a:solidFill>
            <a:srgbClr val="E06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0" y="310896"/>
            <a:ext cx="217627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472"/>
                </a:solidFill>
                <a:latin typeface="Arial"/>
              </a:rPr>
              <a:t>Scenario Forge · P-130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472"/>
                </a:solidFill>
                <a:latin typeface="Arial"/>
              </a:rPr>
              <a:t>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88720" y="1170432"/>
            <a:ext cx="5074920" cy="493776"/>
          </a:xfrm>
          <a:prstGeom prst="roundRect">
            <a:avLst/>
          </a:prstGeom>
          <a:solidFill>
            <a:srgbClr val="2F6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89888" y="1234440"/>
            <a:ext cx="467258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Ma trận ODD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người chọn thời tiết · tác nhân · hành vi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3653028" y="1673352"/>
            <a:ext cx="146304" cy="146304"/>
          </a:xfrm>
          <a:prstGeom prst="downArrow">
            <a:avLst/>
          </a:prstGeom>
          <a:solidFill>
            <a:srgbClr val="8A8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188720" y="1828800"/>
            <a:ext cx="5074920" cy="4937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9888" y="1892807"/>
            <a:ext cx="467258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 i="0">
                <a:solidFill>
                  <a:srgbClr val="12275D"/>
                </a:solidFill>
                <a:latin typeface="Arial"/>
              </a:rPr>
              <a:t>Agent sinh yêu cầu có kiểm soát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472"/>
                </a:solidFill>
                <a:latin typeface="Arial"/>
              </a:rPr>
              <a:t>một mô tả tiếng Việt cho mỗi ô ODD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3653028" y="2331720"/>
            <a:ext cx="146304" cy="146304"/>
          </a:xfrm>
          <a:prstGeom prst="downArrow">
            <a:avLst/>
          </a:prstGeom>
          <a:solidFill>
            <a:srgbClr val="8A8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188720" y="2487168"/>
            <a:ext cx="5074920" cy="4937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89888" y="2551175"/>
            <a:ext cx="467258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 i="0">
                <a:solidFill>
                  <a:srgbClr val="12275D"/>
                </a:solidFill>
                <a:latin typeface="Arial"/>
              </a:rPr>
              <a:t>Pipeline 7 node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472"/>
                </a:solidFill>
                <a:latin typeface="Arial"/>
              </a:rPr>
              <a:t>sinh + validate + convert từng scenario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3653028" y="2990087"/>
            <a:ext cx="146304" cy="146304"/>
          </a:xfrm>
          <a:prstGeom prst="downArrow">
            <a:avLst/>
          </a:prstGeom>
          <a:solidFill>
            <a:srgbClr val="8A8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188720" y="3145536"/>
            <a:ext cx="5074920" cy="493776"/>
          </a:xfrm>
          <a:prstGeom prst="roundRect">
            <a:avLst/>
          </a:prstGeom>
          <a:solidFill>
            <a:srgbClr val="E06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89888" y="3209544"/>
            <a:ext cx="467258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Người duyệt lô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batch không tự vào thư viện (ADR-014)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3653028" y="3648456"/>
            <a:ext cx="146304" cy="146304"/>
          </a:xfrm>
          <a:prstGeom prst="downArrow">
            <a:avLst/>
          </a:prstGeom>
          <a:solidFill>
            <a:srgbClr val="8A8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188720" y="3803904"/>
            <a:ext cx="5074920" cy="4937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89888" y="3867912"/>
            <a:ext cx="467258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 i="0">
                <a:solidFill>
                  <a:srgbClr val="12275D"/>
                </a:solidFill>
                <a:latin typeface="Arial"/>
              </a:rPr>
              <a:t>CARLA chạy cặp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472"/>
                </a:solidFill>
                <a:latin typeface="Arial"/>
              </a:rPr>
              <a:t>Baseline  ↔  BehaviorAgent, cùng artifact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3653028" y="4306824"/>
            <a:ext cx="146304" cy="146304"/>
          </a:xfrm>
          <a:prstGeom prst="downArrow">
            <a:avLst/>
          </a:prstGeom>
          <a:solidFill>
            <a:srgbClr val="8A8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188720" y="4462272"/>
            <a:ext cx="5074920" cy="493776"/>
          </a:xfrm>
          <a:prstGeom prst="roundRect">
            <a:avLst/>
          </a:prstGeom>
          <a:solidFill>
            <a:srgbClr val="2F6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89888" y="4526280"/>
            <a:ext cx="467258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So sánh TTC · phanh · va chạm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→ keep_regression hoặc create_harder_variant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1188720"/>
            <a:ext cx="4892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275D"/>
                </a:solidFill>
                <a:latin typeface="Arial"/>
              </a:rPr>
              <a:t>Cặp A/B thật trên sc_011 — xe máy tạt đầu rồi phanh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48855" y="1572768"/>
            <a:ext cx="1600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2275D"/>
                </a:solidFill>
                <a:latin typeface="Arial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19" y="1572768"/>
            <a:ext cx="1463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2275D"/>
                </a:solidFill>
                <a:latin typeface="Arial"/>
              </a:rPr>
              <a:t>Baseline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0" y="1572768"/>
            <a:ext cx="1463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2275D"/>
                </a:solidFill>
                <a:latin typeface="Arial"/>
              </a:rPr>
              <a:t>BehaviorAgent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720840" y="1956816"/>
            <a:ext cx="4892040" cy="36576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48855" y="1956816"/>
            <a:ext cx="1600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2275D"/>
                </a:solidFill>
                <a:latin typeface="Arial"/>
              </a:rPr>
              <a:t>phanh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19" y="1956816"/>
            <a:ext cx="1463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472"/>
                </a:solidFill>
                <a:latin typeface="Arial"/>
              </a:rPr>
              <a:t>không phanh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0" y="1956816"/>
            <a:ext cx="1463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472"/>
                </a:solidFill>
                <a:latin typeface="Arial"/>
              </a:rPr>
              <a:t>phanh 0,5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720840" y="2340864"/>
            <a:ext cx="489204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48855" y="2340864"/>
            <a:ext cx="1600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2275D"/>
                </a:solidFill>
                <a:latin typeface="Arial"/>
              </a:rPr>
              <a:t>giảm tốc sau đỉnh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03919" y="2340864"/>
            <a:ext cx="1463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472"/>
                </a:solidFill>
                <a:latin typeface="Arial"/>
              </a:rPr>
              <a:t>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58400" y="2340864"/>
            <a:ext cx="1463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472"/>
                </a:solidFill>
                <a:latin typeface="Arial"/>
              </a:rPr>
              <a:t>3,676 m/s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720840" y="2724912"/>
            <a:ext cx="4892040" cy="36576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48855" y="2724912"/>
            <a:ext cx="1600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2275D"/>
                </a:solidFill>
                <a:latin typeface="Arial"/>
              </a:rPr>
              <a:t>va chạm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03919" y="2724912"/>
            <a:ext cx="1463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472"/>
                </a:solidFill>
                <a:latin typeface="Arial"/>
              </a:rPr>
              <a:t>có · 10,823 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58400" y="2724912"/>
            <a:ext cx="1463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472"/>
                </a:solidFill>
                <a:latin typeface="Arial"/>
              </a:rPr>
              <a:t>có · 10,750 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720840" y="3200400"/>
            <a:ext cx="4892040" cy="822960"/>
          </a:xfrm>
          <a:prstGeom prst="rect">
            <a:avLst/>
          </a:prstGeom>
          <a:solidFill>
            <a:srgbClr val="FFFFFF"/>
          </a:solidFill>
          <a:ln w="15875">
            <a:solidFill>
              <a:srgbClr val="E06C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03720" y="3346704"/>
            <a:ext cx="45262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E06C1F"/>
                </a:solidFill>
                <a:latin typeface="Arial"/>
              </a:rPr>
              <a:t>outcome = controller_collision  →  keep_regression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472"/>
                </a:solidFill>
                <a:latin typeface="Arial"/>
              </a:rPr>
              <a:t>Mô hình lái đã phản ứng mà vẫn đâm — đúng thứ cần giữ làm ca hồi quy.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20840" y="4133087"/>
            <a:ext cx="48920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2275D"/>
                </a:solidFill>
                <a:latin typeface="Arial"/>
              </a:rPr>
              <a:t>Hai chốt thiết kế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5A6472"/>
                </a:solidFill>
                <a:latin typeface="Arial"/>
              </a:rPr>
              <a:t>·  Kết quả BehaviorAgent KHÔNG cập nhật VerificationLevel — không thì controller giỏi sẽ xoá chính bằng chứng làm baseline (ADR-021).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472"/>
                </a:solidFill>
                <a:latin typeface="Arial"/>
              </a:rPr>
              <a:t>·  Lệch vận tốc ego ở giây 2 quá 1 m/s là hệ thống bắt chạy lại.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solidFill>
            <a:srgbClr val="00A6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 rot="16200000">
            <a:off x="-1623060" y="3154680"/>
            <a:ext cx="402336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Bằng chứng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74320"/>
            <a:ext cx="8778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2275D"/>
                </a:solidFill>
                <a:latin typeface="Arial"/>
              </a:rPr>
              <a:t>Nó chạy được tới đâu?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6309360"/>
            <a:ext cx="9326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5A6472"/>
                </a:solidFill>
                <a:latin typeface="Arial"/>
              </a:rPr>
              <a:t>Snapshot 29/08/2026, lấy trực tiếp từ database qua /api/v1/metrics/quality.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1170432" y="786384"/>
            <a:ext cx="9107424" cy="50292"/>
          </a:xfrm>
          <a:prstGeom prst="rect">
            <a:avLst/>
          </a:prstGeom>
          <a:solidFill>
            <a:srgbClr val="1227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552176" y="786384"/>
            <a:ext cx="1042415" cy="50292"/>
          </a:xfrm>
          <a:prstGeom prst="rect">
            <a:avLst/>
          </a:prstGeom>
          <a:solidFill>
            <a:srgbClr val="E06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0" y="310896"/>
            <a:ext cx="217627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472"/>
                </a:solidFill>
                <a:latin typeface="Arial"/>
              </a:rPr>
              <a:t>Scenario Forge · P-130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472"/>
                </a:solidFill>
                <a:latin typeface="Arial"/>
              </a:rPr>
              <a:t>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417320"/>
            <a:ext cx="3108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2275D"/>
                </a:solidFill>
                <a:latin typeface="Arial"/>
              </a:rPr>
              <a:t>L1  hiểu câu, qua validate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34840" y="1472184"/>
            <a:ext cx="5760720" cy="292608"/>
          </a:xfrm>
          <a:prstGeom prst="rect">
            <a:avLst/>
          </a:prstGeom>
          <a:solidFill>
            <a:srgbClr val="EC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>
            <a:off x="4434840" y="1472184"/>
            <a:ext cx="4102208" cy="292608"/>
          </a:xfrm>
          <a:prstGeom prst="round2SameRect">
            <a:avLst/>
          </a:prstGeom>
          <a:solidFill>
            <a:srgbClr val="2F6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341863" y="1435608"/>
            <a:ext cx="17373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275D"/>
                </a:solidFill>
                <a:latin typeface="Arial"/>
              </a:rPr>
              <a:t>71,21%  ·  94/132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2203704"/>
            <a:ext cx="3108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2275D"/>
                </a:solidFill>
                <a:latin typeface="Arial"/>
              </a:rPr>
              <a:t>L2  biên dịch ra .xosc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34840" y="2258568"/>
            <a:ext cx="5760720" cy="292608"/>
          </a:xfrm>
          <a:prstGeom prst="rect">
            <a:avLst/>
          </a:prstGeom>
          <a:solidFill>
            <a:srgbClr val="EC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 Same Side Corner Rectangle 15"/>
          <p:cNvSpPr/>
          <p:nvPr/>
        </p:nvSpPr>
        <p:spPr>
          <a:xfrm>
            <a:off x="4434840" y="2258568"/>
            <a:ext cx="5760720" cy="292608"/>
          </a:xfrm>
          <a:prstGeom prst="round2SameRect">
            <a:avLst/>
          </a:prstGeom>
          <a:solidFill>
            <a:srgbClr val="2F6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41863" y="2221992"/>
            <a:ext cx="17373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275D"/>
                </a:solidFill>
                <a:latin typeface="Arial"/>
              </a:rPr>
              <a:t>100,00%  ·  100/100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2990088"/>
            <a:ext cx="3108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2275D"/>
                </a:solidFill>
                <a:latin typeface="Arial"/>
              </a:rPr>
              <a:t>L3  CARLA chạy hết, không crash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34840" y="3044952"/>
            <a:ext cx="5760720" cy="292608"/>
          </a:xfrm>
          <a:prstGeom prst="rect">
            <a:avLst/>
          </a:prstGeom>
          <a:solidFill>
            <a:srgbClr val="EC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 Same Side Corner Rectangle 19"/>
          <p:cNvSpPr/>
          <p:nvPr/>
        </p:nvSpPr>
        <p:spPr>
          <a:xfrm>
            <a:off x="4434840" y="3044952"/>
            <a:ext cx="5449065" cy="292608"/>
          </a:xfrm>
          <a:prstGeom prst="round2SameRect">
            <a:avLst/>
          </a:prstGeom>
          <a:solidFill>
            <a:srgbClr val="2F6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341863" y="3008376"/>
            <a:ext cx="17373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275D"/>
                </a:solidFill>
                <a:latin typeface="Arial"/>
              </a:rPr>
              <a:t>94,59%  ·  35/37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3776472"/>
            <a:ext cx="3108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2275D"/>
                </a:solidFill>
                <a:latin typeface="Arial"/>
              </a:rPr>
              <a:t>L4  quỹ đạo đúng ý định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34840" y="3831335"/>
            <a:ext cx="5760720" cy="292608"/>
          </a:xfrm>
          <a:prstGeom prst="rect">
            <a:avLst/>
          </a:prstGeom>
          <a:solidFill>
            <a:srgbClr val="EC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 Same Side Corner Rectangle 23"/>
          <p:cNvSpPr/>
          <p:nvPr/>
        </p:nvSpPr>
        <p:spPr>
          <a:xfrm>
            <a:off x="4434840" y="3831335"/>
            <a:ext cx="3456432" cy="292608"/>
          </a:xfrm>
          <a:prstGeom prst="round2SameRect">
            <a:avLst/>
          </a:prstGeom>
          <a:solidFill>
            <a:srgbClr val="2F6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41863" y="3794759"/>
            <a:ext cx="17373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275D"/>
                </a:solidFill>
                <a:latin typeface="Arial"/>
              </a:rPr>
              <a:t>60,00%  ·  21/35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4800600"/>
            <a:ext cx="10424159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900" b="1" i="0">
                <a:solidFill>
                  <a:srgbClr val="12275D"/>
                </a:solidFill>
                <a:latin typeface="Arial"/>
              </a:rPr>
              <a:t>L4 là 60% — và em để nguyên con số đó trên slide.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A6472"/>
                </a:solidFill>
                <a:latin typeface="Arial"/>
              </a:rPr>
              <a:t>“Chạy xong” không đồng nghĩa “đúng ý định”. L4 là mức duy nhất trả lời được câu đó, nên nó phải là mức khó nhất. Che nó đi thì ba mức trên cũng vô nghĩa.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solidFill>
            <a:srgbClr val="00A6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 rot="16200000">
            <a:off x="-1623060" y="3154680"/>
            <a:ext cx="402336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Bằng chứng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74320"/>
            <a:ext cx="8778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2275D"/>
                </a:solidFill>
                <a:latin typeface="Arial"/>
              </a:rPr>
              <a:t>Đã phủ được bao nhiêu ODD?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6309360"/>
            <a:ext cx="9326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5A6472"/>
                </a:solidFill>
                <a:latin typeface="Arial"/>
              </a:rPr>
              <a:t>Mỗi ô = một tổ hợp maneuver × loại xe × thời tiết trên anchor đã đo hình học.</a:t>
            </a:r>
          </a:p>
        </p:txBody>
      </p:sp>
      <p:sp>
        <p:nvSpPr>
          <p:cNvPr id="6" name="Rectangle 5"/>
          <p:cNvSpPr/>
          <p:nvPr/>
        </p:nvSpPr>
        <p:spPr>
          <a:xfrm>
            <a:off x="1170432" y="786384"/>
            <a:ext cx="9107424" cy="50292"/>
          </a:xfrm>
          <a:prstGeom prst="rect">
            <a:avLst/>
          </a:prstGeom>
          <a:solidFill>
            <a:srgbClr val="1227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552176" y="786384"/>
            <a:ext cx="1042415" cy="50292"/>
          </a:xfrm>
          <a:prstGeom prst="rect">
            <a:avLst/>
          </a:prstGeom>
          <a:solidFill>
            <a:srgbClr val="E06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0" y="310896"/>
            <a:ext cx="217627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472"/>
                </a:solidFill>
                <a:latin typeface="Arial"/>
              </a:rPr>
              <a:t>Scenario Forge · P-130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472"/>
                </a:solidFill>
                <a:latin typeface="Arial"/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1389888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A6472"/>
                </a:solidFill>
                <a:latin typeface="Arial"/>
              </a:rPr>
              <a:t>car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1645920"/>
            <a:ext cx="5486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A6472"/>
                </a:solidFill>
                <a:latin typeface="Arial"/>
              </a:rPr>
              <a:t>clear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1645920"/>
            <a:ext cx="5486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A6472"/>
                </a:solidFill>
                <a:latin typeface="Arial"/>
              </a:rPr>
              <a:t>rain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1645920"/>
            <a:ext cx="5486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A6472"/>
                </a:solidFill>
                <a:latin typeface="Arial"/>
              </a:rPr>
              <a:t>h.rain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1645920"/>
            <a:ext cx="5486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A6472"/>
                </a:solidFill>
                <a:latin typeface="Arial"/>
              </a:rPr>
              <a:t>fog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55464" y="1389888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A6472"/>
                </a:solidFill>
                <a:latin typeface="Arial"/>
              </a:rPr>
              <a:t>motorcycle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64024" y="1645920"/>
            <a:ext cx="5486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A6472"/>
                </a:solidFill>
                <a:latin typeface="Arial"/>
              </a:rPr>
              <a:t>clear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75504" y="1645920"/>
            <a:ext cx="5486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A6472"/>
                </a:solidFill>
                <a:latin typeface="Arial"/>
              </a:rPr>
              <a:t>rain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86984" y="1645920"/>
            <a:ext cx="5486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A6472"/>
                </a:solidFill>
                <a:latin typeface="Arial"/>
              </a:rPr>
              <a:t>h.rain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98464" y="1645920"/>
            <a:ext cx="5486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A6472"/>
                </a:solidFill>
                <a:latin typeface="Arial"/>
              </a:rPr>
              <a:t>fog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39128" y="1389888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A6472"/>
                </a:solidFill>
                <a:latin typeface="Arial"/>
              </a:rPr>
              <a:t>truck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47688" y="1645920"/>
            <a:ext cx="5486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A6472"/>
                </a:solidFill>
                <a:latin typeface="Arial"/>
              </a:rPr>
              <a:t>clear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59168" y="1645920"/>
            <a:ext cx="5486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A6472"/>
                </a:solidFill>
                <a:latin typeface="Arial"/>
              </a:rPr>
              <a:t>rain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70648" y="1645920"/>
            <a:ext cx="5486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A6472"/>
                </a:solidFill>
                <a:latin typeface="Arial"/>
              </a:rPr>
              <a:t>h.rain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82128" y="1645920"/>
            <a:ext cx="5486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A6472"/>
                </a:solidFill>
                <a:latin typeface="Arial"/>
              </a:rPr>
              <a:t>fog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1984248"/>
            <a:ext cx="1691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2275D"/>
                </a:solidFill>
                <a:latin typeface="Consolas"/>
              </a:rPr>
              <a:t>cut_in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71800" y="1984248"/>
            <a:ext cx="365760" cy="365760"/>
          </a:xfrm>
          <a:prstGeom prst="rect">
            <a:avLst/>
          </a:prstGeom>
          <a:solidFill>
            <a:srgbClr val="2F6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383280" y="1984248"/>
            <a:ext cx="365760" cy="365760"/>
          </a:xfrm>
          <a:prstGeom prst="rect">
            <a:avLst/>
          </a:prstGeom>
          <a:solidFill>
            <a:srgbClr val="BF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794760" y="1984248"/>
            <a:ext cx="365760" cy="365760"/>
          </a:xfrm>
          <a:prstGeom prst="rect">
            <a:avLst/>
          </a:prstGeom>
          <a:solidFill>
            <a:srgbClr val="BF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06240" y="1984248"/>
            <a:ext cx="365760" cy="365760"/>
          </a:xfrm>
          <a:prstGeom prst="rect">
            <a:avLst/>
          </a:prstGeom>
          <a:solidFill>
            <a:srgbClr val="BF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855464" y="1984248"/>
            <a:ext cx="365760" cy="365760"/>
          </a:xfrm>
          <a:prstGeom prst="rect">
            <a:avLst/>
          </a:prstGeom>
          <a:solidFill>
            <a:srgbClr val="2F6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266944" y="1984248"/>
            <a:ext cx="365760" cy="365760"/>
          </a:xfrm>
          <a:prstGeom prst="rect">
            <a:avLst/>
          </a:prstGeom>
          <a:solidFill>
            <a:srgbClr val="BF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678424" y="1984248"/>
            <a:ext cx="365760" cy="365760"/>
          </a:xfrm>
          <a:prstGeom prst="rect">
            <a:avLst/>
          </a:prstGeom>
          <a:solidFill>
            <a:srgbClr val="BF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089904" y="1984248"/>
            <a:ext cx="365760" cy="365760"/>
          </a:xfrm>
          <a:prstGeom prst="rect">
            <a:avLst/>
          </a:prstGeom>
          <a:solidFill>
            <a:srgbClr val="2F6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739128" y="1984248"/>
            <a:ext cx="365760" cy="365760"/>
          </a:xfrm>
          <a:prstGeom prst="rect">
            <a:avLst/>
          </a:prstGeom>
          <a:solidFill>
            <a:srgbClr val="BF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150608" y="1984248"/>
            <a:ext cx="365760" cy="365760"/>
          </a:xfrm>
          <a:prstGeom prst="rect">
            <a:avLst/>
          </a:prstGeom>
          <a:solidFill>
            <a:srgbClr val="BF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562088" y="1984248"/>
            <a:ext cx="365760" cy="365760"/>
          </a:xfrm>
          <a:prstGeom prst="rect">
            <a:avLst/>
          </a:prstGeom>
          <a:solidFill>
            <a:srgbClr val="2F6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973568" y="1984248"/>
            <a:ext cx="365760" cy="365760"/>
          </a:xfrm>
          <a:prstGeom prst="rect">
            <a:avLst/>
          </a:prstGeom>
          <a:solidFill>
            <a:srgbClr val="BF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88720" y="2395728"/>
            <a:ext cx="1691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2275D"/>
                </a:solidFill>
                <a:latin typeface="Consolas"/>
              </a:rPr>
              <a:t>lane_drift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971800" y="2395728"/>
            <a:ext cx="365760" cy="365760"/>
          </a:xfrm>
          <a:prstGeom prst="rect">
            <a:avLst/>
          </a:prstGeom>
          <a:solidFill>
            <a:srgbClr val="BF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383280" y="2395728"/>
            <a:ext cx="365760" cy="365760"/>
          </a:xfrm>
          <a:prstGeom prst="rect">
            <a:avLst/>
          </a:prstGeom>
          <a:solidFill>
            <a:srgbClr val="BF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794760" y="2395728"/>
            <a:ext cx="365760" cy="365760"/>
          </a:xfrm>
          <a:prstGeom prst="rect">
            <a:avLst/>
          </a:prstGeom>
          <a:solidFill>
            <a:srgbClr val="2F6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206240" y="2395728"/>
            <a:ext cx="365760" cy="365760"/>
          </a:xfrm>
          <a:prstGeom prst="rect">
            <a:avLst/>
          </a:prstGeom>
          <a:solidFill>
            <a:srgbClr val="BF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855464" y="2395728"/>
            <a:ext cx="365760" cy="365760"/>
          </a:xfrm>
          <a:prstGeom prst="rect">
            <a:avLst/>
          </a:prstGeom>
          <a:solidFill>
            <a:srgbClr val="2F6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266944" y="2395728"/>
            <a:ext cx="365760" cy="365760"/>
          </a:xfrm>
          <a:prstGeom prst="rect">
            <a:avLst/>
          </a:prstGeom>
          <a:solidFill>
            <a:srgbClr val="BF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678424" y="2395728"/>
            <a:ext cx="365760" cy="365760"/>
          </a:xfrm>
          <a:prstGeom prst="rect">
            <a:avLst/>
          </a:prstGeom>
          <a:solidFill>
            <a:srgbClr val="BF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089904" y="2395728"/>
            <a:ext cx="365760" cy="365760"/>
          </a:xfrm>
          <a:prstGeom prst="rect">
            <a:avLst/>
          </a:prstGeom>
          <a:solidFill>
            <a:srgbClr val="BF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739128" y="2395728"/>
            <a:ext cx="365760" cy="365760"/>
          </a:xfrm>
          <a:prstGeom prst="rect">
            <a:avLst/>
          </a:prstGeom>
          <a:solidFill>
            <a:srgbClr val="BF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150608" y="2395728"/>
            <a:ext cx="365760" cy="365760"/>
          </a:xfrm>
          <a:prstGeom prst="rect">
            <a:avLst/>
          </a:prstGeom>
          <a:solidFill>
            <a:srgbClr val="BF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562088" y="2395728"/>
            <a:ext cx="365760" cy="365760"/>
          </a:xfrm>
          <a:prstGeom prst="rect">
            <a:avLst/>
          </a:prstGeom>
          <a:solidFill>
            <a:srgbClr val="BF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973568" y="2395728"/>
            <a:ext cx="365760" cy="365760"/>
          </a:xfrm>
          <a:prstGeom prst="rect">
            <a:avLst/>
          </a:prstGeom>
          <a:solidFill>
            <a:srgbClr val="BF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188720" y="2807208"/>
            <a:ext cx="1691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2275D"/>
                </a:solidFill>
                <a:latin typeface="Consolas"/>
              </a:rPr>
              <a:t>sudden_brake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971800" y="2807208"/>
            <a:ext cx="365760" cy="365760"/>
          </a:xfrm>
          <a:prstGeom prst="rect">
            <a:avLst/>
          </a:prstGeom>
          <a:solidFill>
            <a:srgbClr val="BF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383280" y="2807208"/>
            <a:ext cx="365760" cy="365760"/>
          </a:xfrm>
          <a:prstGeom prst="rect">
            <a:avLst/>
          </a:prstGeom>
          <a:solidFill>
            <a:srgbClr val="BF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794760" y="2807208"/>
            <a:ext cx="365760" cy="365760"/>
          </a:xfrm>
          <a:prstGeom prst="rect">
            <a:avLst/>
          </a:prstGeom>
          <a:solidFill>
            <a:srgbClr val="BF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206240" y="2807208"/>
            <a:ext cx="365760" cy="365760"/>
          </a:xfrm>
          <a:prstGeom prst="rect">
            <a:avLst/>
          </a:prstGeom>
          <a:solidFill>
            <a:srgbClr val="BF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855464" y="2807208"/>
            <a:ext cx="365760" cy="365760"/>
          </a:xfrm>
          <a:prstGeom prst="rect">
            <a:avLst/>
          </a:prstGeom>
          <a:solidFill>
            <a:srgbClr val="BF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266944" y="2807208"/>
            <a:ext cx="365760" cy="365760"/>
          </a:xfrm>
          <a:prstGeom prst="rect">
            <a:avLst/>
          </a:prstGeom>
          <a:solidFill>
            <a:srgbClr val="BF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678424" y="2807208"/>
            <a:ext cx="365760" cy="365760"/>
          </a:xfrm>
          <a:prstGeom prst="rect">
            <a:avLst/>
          </a:prstGeom>
          <a:solidFill>
            <a:srgbClr val="BF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089904" y="2807208"/>
            <a:ext cx="365760" cy="365760"/>
          </a:xfrm>
          <a:prstGeom prst="rect">
            <a:avLst/>
          </a:prstGeom>
          <a:solidFill>
            <a:srgbClr val="BF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739128" y="2807208"/>
            <a:ext cx="365760" cy="365760"/>
          </a:xfrm>
          <a:prstGeom prst="rect">
            <a:avLst/>
          </a:prstGeom>
          <a:solidFill>
            <a:srgbClr val="BF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150608" y="2807208"/>
            <a:ext cx="365760" cy="365760"/>
          </a:xfrm>
          <a:prstGeom prst="rect">
            <a:avLst/>
          </a:prstGeom>
          <a:solidFill>
            <a:srgbClr val="2F6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562088" y="2807208"/>
            <a:ext cx="365760" cy="365760"/>
          </a:xfrm>
          <a:prstGeom prst="rect">
            <a:avLst/>
          </a:prstGeom>
          <a:solidFill>
            <a:srgbClr val="BF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973568" y="2807208"/>
            <a:ext cx="365760" cy="365760"/>
          </a:xfrm>
          <a:prstGeom prst="rect">
            <a:avLst/>
          </a:prstGeom>
          <a:solidFill>
            <a:srgbClr val="BF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188720" y="3218688"/>
            <a:ext cx="1691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2275D"/>
                </a:solidFill>
                <a:latin typeface="Consolas"/>
              </a:rPr>
              <a:t>stop_in_lane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971800" y="3218688"/>
            <a:ext cx="365760" cy="365760"/>
          </a:xfrm>
          <a:prstGeom prst="rect">
            <a:avLst/>
          </a:prstGeom>
          <a:solidFill>
            <a:srgbClr val="BF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3383280" y="3218688"/>
            <a:ext cx="365760" cy="365760"/>
          </a:xfrm>
          <a:prstGeom prst="rect">
            <a:avLst/>
          </a:prstGeom>
          <a:solidFill>
            <a:srgbClr val="BF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3794760" y="3218688"/>
            <a:ext cx="365760" cy="365760"/>
          </a:xfrm>
          <a:prstGeom prst="rect">
            <a:avLst/>
          </a:prstGeom>
          <a:solidFill>
            <a:srgbClr val="BF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4206240" y="3218688"/>
            <a:ext cx="365760" cy="365760"/>
          </a:xfrm>
          <a:prstGeom prst="rect">
            <a:avLst/>
          </a:prstGeom>
          <a:solidFill>
            <a:srgbClr val="2F6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855464" y="3218688"/>
            <a:ext cx="365760" cy="365760"/>
          </a:xfrm>
          <a:prstGeom prst="rect">
            <a:avLst/>
          </a:prstGeom>
          <a:solidFill>
            <a:srgbClr val="BF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266944" y="3218688"/>
            <a:ext cx="365760" cy="365760"/>
          </a:xfrm>
          <a:prstGeom prst="rect">
            <a:avLst/>
          </a:prstGeom>
          <a:solidFill>
            <a:srgbClr val="2F6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678424" y="3218688"/>
            <a:ext cx="365760" cy="365760"/>
          </a:xfrm>
          <a:prstGeom prst="rect">
            <a:avLst/>
          </a:prstGeom>
          <a:solidFill>
            <a:srgbClr val="BF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089904" y="3218688"/>
            <a:ext cx="365760" cy="365760"/>
          </a:xfrm>
          <a:prstGeom prst="rect">
            <a:avLst/>
          </a:prstGeom>
          <a:solidFill>
            <a:srgbClr val="BF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739128" y="3218688"/>
            <a:ext cx="365760" cy="365760"/>
          </a:xfrm>
          <a:prstGeom prst="rect">
            <a:avLst/>
          </a:prstGeom>
          <a:solidFill>
            <a:srgbClr val="BF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150608" y="3218688"/>
            <a:ext cx="365760" cy="365760"/>
          </a:xfrm>
          <a:prstGeom prst="rect">
            <a:avLst/>
          </a:prstGeom>
          <a:solidFill>
            <a:srgbClr val="BF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562088" y="3218688"/>
            <a:ext cx="365760" cy="365760"/>
          </a:xfrm>
          <a:prstGeom prst="rect">
            <a:avLst/>
          </a:prstGeom>
          <a:solidFill>
            <a:srgbClr val="BF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973568" y="3218688"/>
            <a:ext cx="365760" cy="365760"/>
          </a:xfrm>
          <a:prstGeom prst="rect">
            <a:avLst/>
          </a:prstGeom>
          <a:solidFill>
            <a:srgbClr val="BF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188720" y="3630168"/>
            <a:ext cx="1691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2275D"/>
                </a:solidFill>
                <a:latin typeface="Consolas"/>
              </a:rPr>
              <a:t>wrong_way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971800" y="3630168"/>
            <a:ext cx="365760" cy="365760"/>
          </a:xfrm>
          <a:prstGeom prst="rect">
            <a:avLst/>
          </a:prstGeom>
          <a:solidFill>
            <a:srgbClr val="BF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3383280" y="3630168"/>
            <a:ext cx="365760" cy="365760"/>
          </a:xfrm>
          <a:prstGeom prst="rect">
            <a:avLst/>
          </a:prstGeom>
          <a:solidFill>
            <a:srgbClr val="2F6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3794760" y="3630168"/>
            <a:ext cx="365760" cy="365760"/>
          </a:xfrm>
          <a:prstGeom prst="rect">
            <a:avLst/>
          </a:prstGeom>
          <a:solidFill>
            <a:srgbClr val="BF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4206240" y="3630168"/>
            <a:ext cx="365760" cy="365760"/>
          </a:xfrm>
          <a:prstGeom prst="rect">
            <a:avLst/>
          </a:prstGeom>
          <a:solidFill>
            <a:srgbClr val="BF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4855464" y="3630168"/>
            <a:ext cx="365760" cy="365760"/>
          </a:xfrm>
          <a:prstGeom prst="rect">
            <a:avLst/>
          </a:prstGeom>
          <a:solidFill>
            <a:srgbClr val="BF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5266944" y="3630168"/>
            <a:ext cx="365760" cy="365760"/>
          </a:xfrm>
          <a:prstGeom prst="rect">
            <a:avLst/>
          </a:prstGeom>
          <a:solidFill>
            <a:srgbClr val="BF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5678424" y="3630168"/>
            <a:ext cx="365760" cy="365760"/>
          </a:xfrm>
          <a:prstGeom prst="rect">
            <a:avLst/>
          </a:prstGeom>
          <a:solidFill>
            <a:srgbClr val="BF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6089904" y="3630168"/>
            <a:ext cx="365760" cy="365760"/>
          </a:xfrm>
          <a:prstGeom prst="rect">
            <a:avLst/>
          </a:prstGeom>
          <a:solidFill>
            <a:srgbClr val="BF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739128" y="3630168"/>
            <a:ext cx="365760" cy="365760"/>
          </a:xfrm>
          <a:prstGeom prst="rect">
            <a:avLst/>
          </a:prstGeom>
          <a:solidFill>
            <a:srgbClr val="BF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150608" y="3630168"/>
            <a:ext cx="365760" cy="365760"/>
          </a:xfrm>
          <a:prstGeom prst="rect">
            <a:avLst/>
          </a:prstGeom>
          <a:solidFill>
            <a:srgbClr val="BF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562088" y="3630168"/>
            <a:ext cx="365760" cy="365760"/>
          </a:xfrm>
          <a:prstGeom prst="rect">
            <a:avLst/>
          </a:prstGeom>
          <a:solidFill>
            <a:srgbClr val="BF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973568" y="3630168"/>
            <a:ext cx="365760" cy="365760"/>
          </a:xfrm>
          <a:prstGeom prst="rect">
            <a:avLst/>
          </a:prstGeom>
          <a:solidFill>
            <a:srgbClr val="2F6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188720" y="4041648"/>
            <a:ext cx="1691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2275D"/>
                </a:solidFill>
                <a:latin typeface="Consolas"/>
              </a:rPr>
              <a:t>run_red_light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971800" y="4041648"/>
            <a:ext cx="365760" cy="365760"/>
          </a:xfrm>
          <a:prstGeom prst="rect">
            <a:avLst/>
          </a:prstGeom>
          <a:solidFill>
            <a:srgbClr val="2F6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3383280" y="4041648"/>
            <a:ext cx="365760" cy="365760"/>
          </a:xfrm>
          <a:prstGeom prst="rect">
            <a:avLst/>
          </a:prstGeom>
          <a:solidFill>
            <a:srgbClr val="BF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3794760" y="4041648"/>
            <a:ext cx="365760" cy="365760"/>
          </a:xfrm>
          <a:prstGeom prst="rect">
            <a:avLst/>
          </a:prstGeom>
          <a:solidFill>
            <a:srgbClr val="BF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4206240" y="4041648"/>
            <a:ext cx="365760" cy="365760"/>
          </a:xfrm>
          <a:prstGeom prst="rect">
            <a:avLst/>
          </a:prstGeom>
          <a:solidFill>
            <a:srgbClr val="BF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4855464" y="4041648"/>
            <a:ext cx="365760" cy="365760"/>
          </a:xfrm>
          <a:prstGeom prst="rect">
            <a:avLst/>
          </a:prstGeom>
          <a:solidFill>
            <a:srgbClr val="BF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5266944" y="4041648"/>
            <a:ext cx="365760" cy="365760"/>
          </a:xfrm>
          <a:prstGeom prst="rect">
            <a:avLst/>
          </a:prstGeom>
          <a:solidFill>
            <a:srgbClr val="BF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5678424" y="4041648"/>
            <a:ext cx="365760" cy="365760"/>
          </a:xfrm>
          <a:prstGeom prst="rect">
            <a:avLst/>
          </a:prstGeom>
          <a:solidFill>
            <a:srgbClr val="BF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6089904" y="4041648"/>
            <a:ext cx="365760" cy="365760"/>
          </a:xfrm>
          <a:prstGeom prst="rect">
            <a:avLst/>
          </a:prstGeom>
          <a:solidFill>
            <a:srgbClr val="BF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6739128" y="4041648"/>
            <a:ext cx="365760" cy="365760"/>
          </a:xfrm>
          <a:prstGeom prst="rect">
            <a:avLst/>
          </a:prstGeom>
          <a:solidFill>
            <a:srgbClr val="BF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7150608" y="4041648"/>
            <a:ext cx="365760" cy="365760"/>
          </a:xfrm>
          <a:prstGeom prst="rect">
            <a:avLst/>
          </a:prstGeom>
          <a:solidFill>
            <a:srgbClr val="2F6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7562088" y="4041648"/>
            <a:ext cx="365760" cy="365760"/>
          </a:xfrm>
          <a:prstGeom prst="rect">
            <a:avLst/>
          </a:prstGeom>
          <a:solidFill>
            <a:srgbClr val="BF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7973568" y="4041648"/>
            <a:ext cx="365760" cy="365760"/>
          </a:xfrm>
          <a:prstGeom prst="rect">
            <a:avLst/>
          </a:prstGeom>
          <a:solidFill>
            <a:srgbClr val="BF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796528" y="1783080"/>
            <a:ext cx="2816352" cy="1143000"/>
          </a:xfrm>
          <a:prstGeom prst="rect">
            <a:avLst/>
          </a:prstGeom>
          <a:solidFill>
            <a:srgbClr val="F2F4F8"/>
          </a:solidFill>
          <a:ln w="9525">
            <a:solidFill>
              <a:srgbClr val="D5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8942832" y="1929384"/>
            <a:ext cx="2523744" cy="8503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>
                <a:solidFill>
                  <a:srgbClr val="2F62B8"/>
                </a:solidFill>
                <a:latin typeface="Arial"/>
              </a:rPr>
              <a:t>72 / 72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472"/>
                </a:solidFill>
                <a:latin typeface="Arial"/>
              </a:rPr>
              <a:t>ô đã có kịch bản sinh + validate
100% phạm vi converter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8796528" y="3108960"/>
            <a:ext cx="2816352" cy="1143000"/>
          </a:xfrm>
          <a:prstGeom prst="rect">
            <a:avLst/>
          </a:prstGeom>
          <a:solidFill>
            <a:srgbClr val="F2F4F8"/>
          </a:solidFill>
          <a:ln w="9525">
            <a:solidFill>
              <a:srgbClr val="D5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8942832" y="3255264"/>
            <a:ext cx="2523744" cy="8503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>
                <a:solidFill>
                  <a:srgbClr val="2F62B8"/>
                </a:solidFill>
                <a:latin typeface="Arial"/>
              </a:rPr>
              <a:t>13 / 72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472"/>
                </a:solidFill>
                <a:latin typeface="Arial"/>
              </a:rPr>
              <a:t>ô đã có lượt CARLA thật
phần còn lại chờ chạy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188720" y="5120640"/>
            <a:ext cx="1042415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900" b="1" i="0">
                <a:solidFill>
                  <a:srgbClr val="12275D"/>
                </a:solidFill>
                <a:latin typeface="Arial"/>
              </a:rPr>
              <a:t>Phủ kín ô — chưa phủ kín lượt chạy.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A6472"/>
                </a:solidFill>
                <a:latin typeface="Arial"/>
              </a:rPr>
              <a:t>Ô nhạt đã có kịch bản sinh và validate qua; ô đậm đã chạy thật trên CARLA. Phủ theo cặp trục cũng 74/74. Danh sách ô cần chạy tiếp đọc thẳng từ hình này.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solidFill>
            <a:srgbClr val="00A6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 rot="16200000">
            <a:off x="-1623060" y="3154680"/>
            <a:ext cx="402336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Bằng chứng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74320"/>
            <a:ext cx="8778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2275D"/>
                </a:solidFill>
                <a:latin typeface="Arial"/>
              </a:rPr>
              <a:t>Có thật sự dựng được nguy hiểm không?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6309360"/>
            <a:ext cx="9326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5A6472"/>
                </a:solidFill>
                <a:latin typeface="Arial"/>
              </a:rPr>
              <a:t>35 lượt chạy được, mỗi kịch bản chỉ tính lần chạy CARLA mới nhất.</a:t>
            </a:r>
          </a:p>
        </p:txBody>
      </p:sp>
      <p:sp>
        <p:nvSpPr>
          <p:cNvPr id="6" name="Rectangle 5"/>
          <p:cNvSpPr/>
          <p:nvPr/>
        </p:nvSpPr>
        <p:spPr>
          <a:xfrm>
            <a:off x="1170432" y="786384"/>
            <a:ext cx="9107424" cy="50292"/>
          </a:xfrm>
          <a:prstGeom prst="rect">
            <a:avLst/>
          </a:prstGeom>
          <a:solidFill>
            <a:srgbClr val="1227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552176" y="786384"/>
            <a:ext cx="1042415" cy="50292"/>
          </a:xfrm>
          <a:prstGeom prst="rect">
            <a:avLst/>
          </a:prstGeom>
          <a:solidFill>
            <a:srgbClr val="E06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0" y="310896"/>
            <a:ext cx="217627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472"/>
                </a:solidFill>
                <a:latin typeface="Arial"/>
              </a:rPr>
              <a:t>Scenario Forge · P-130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472"/>
                </a:solidFill>
                <a:latin typeface="Arial"/>
              </a:rPr>
              <a:t>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88720" y="1463040"/>
            <a:ext cx="3549700" cy="658368"/>
          </a:xfrm>
          <a:prstGeom prst="rect">
            <a:avLst/>
          </a:prstGeom>
          <a:solidFill>
            <a:srgbClr val="2F6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1463040"/>
            <a:ext cx="35497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17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64024" y="1463040"/>
            <a:ext cx="815644" cy="658368"/>
          </a:xfrm>
          <a:prstGeom prst="rect">
            <a:avLst/>
          </a:prstGeom>
          <a:solidFill>
            <a:srgbClr val="E06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64024" y="1463040"/>
            <a:ext cx="815644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05272" y="1463040"/>
            <a:ext cx="2918764" cy="658368"/>
          </a:xfrm>
          <a:prstGeom prst="rect">
            <a:avLst/>
          </a:prstGeom>
          <a:solidFill>
            <a:srgbClr val="8A8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05272" y="1463040"/>
            <a:ext cx="2918764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14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88720" y="2327148"/>
            <a:ext cx="146304" cy="146304"/>
          </a:xfrm>
          <a:prstGeom prst="rect">
            <a:avLst/>
          </a:prstGeom>
          <a:solidFill>
            <a:srgbClr val="2F6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8176" y="2286000"/>
            <a:ext cx="237744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472"/>
                </a:solidFill>
                <a:latin typeface="Arial"/>
              </a:rPr>
              <a:t>Có va chạm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06040" y="2327148"/>
            <a:ext cx="146304" cy="146304"/>
          </a:xfrm>
          <a:prstGeom prst="rect">
            <a:avLst/>
          </a:prstGeom>
          <a:solidFill>
            <a:srgbClr val="E06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25496" y="2286000"/>
            <a:ext cx="237744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472"/>
                </a:solidFill>
                <a:latin typeface="Arial"/>
              </a:rPr>
              <a:t>Suýt va chạm  &lt; 1 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19141" y="2327148"/>
            <a:ext cx="146304" cy="146304"/>
          </a:xfrm>
          <a:prstGeom prst="rect">
            <a:avLst/>
          </a:prstGeom>
          <a:solidFill>
            <a:srgbClr val="8A8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38597" y="2286000"/>
            <a:ext cx="237744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472"/>
                </a:solidFill>
                <a:latin typeface="Arial"/>
              </a:rPr>
              <a:t>Không dựng được nguy hiểm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732520" y="1417320"/>
            <a:ext cx="2880360" cy="1234440"/>
          </a:xfrm>
          <a:prstGeom prst="rect">
            <a:avLst/>
          </a:prstGeom>
          <a:solidFill>
            <a:srgbClr val="F2F4F8"/>
          </a:solidFill>
          <a:ln w="9525">
            <a:solidFill>
              <a:srgbClr val="D5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78824" y="1563624"/>
            <a:ext cx="2587752" cy="941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2F62B8"/>
                </a:solidFill>
                <a:latin typeface="Arial"/>
              </a:rPr>
              <a:t>60,00%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472"/>
                </a:solidFill>
                <a:latin typeface="Arial"/>
              </a:rPr>
              <a:t>21/35 lượt dựng được nguy hiểm
riêng va chạm: 17/35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2926080"/>
            <a:ext cx="7360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2275D"/>
                </a:solidFill>
                <a:latin typeface="Arial"/>
              </a:rPr>
              <a:t>Va chạm không phải thước đo duy nhất.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A6472"/>
                </a:solidFill>
                <a:latin typeface="Arial"/>
              </a:rPr>
              <a:t>lane_drift chủ đích dựng near-miss — chấm nó bằng CollisionTest là chấm sai. Oracle đọc log quỹ đạo: heading, khe hở, lệch tim làn.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88720" y="4160520"/>
            <a:ext cx="10424159" cy="1783080"/>
          </a:xfrm>
          <a:prstGeom prst="rect">
            <a:avLst/>
          </a:prstGeom>
          <a:solidFill>
            <a:srgbClr val="F2F4F8"/>
          </a:solidFill>
          <a:ln w="9525">
            <a:solidFill>
              <a:srgbClr val="D5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63040" y="4343400"/>
            <a:ext cx="56692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 i="0">
                <a:solidFill>
                  <a:srgbClr val="12275D"/>
                </a:solidFill>
                <a:latin typeface="Arial"/>
              </a:rPr>
              <a:t>Máy chấm khớp người chấm:  10/13  =  76,92%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6472"/>
                </a:solidFill>
                <a:latin typeface="Arial"/>
              </a:rPr>
              <a:t>Phán quyết máy không gửi trước cho người chấm, để tránh mồi câu trả lời.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6640" y="4343400"/>
            <a:ext cx="4206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12275D"/>
                </a:solidFill>
                <a:latin typeface="Arial"/>
              </a:rPr>
              <a:t>3 bất đồng, để nguyên trên bàn: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5A6472"/>
                </a:solidFill>
                <a:latin typeface="Arial"/>
              </a:rPr>
              <a:t>·  sc_018 — người đúng, máy sai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5A6472"/>
                </a:solidFill>
                <a:latin typeface="Arial"/>
              </a:rPr>
              <a:t>·  sc_023 — người đúng, máy sai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5A6472"/>
                </a:solidFill>
                <a:latin typeface="Arial"/>
              </a:rPr>
              <a:t>·  sc_024 — người sai, máy đúng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solidFill>
            <a:srgbClr val="00A6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 rot="16200000">
            <a:off x="-1623060" y="3154680"/>
            <a:ext cx="402336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Bằng chứng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74320"/>
            <a:ext cx="8778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2275D"/>
                </a:solidFill>
                <a:latin typeface="Arial"/>
              </a:rPr>
              <a:t>Giá và tốc độ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6309360"/>
            <a:ext cx="9326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5A6472"/>
                </a:solidFill>
                <a:latin typeface="Arial"/>
              </a:rPr>
              <a:t>20 request thật, 24/08/2026. 3 request lỗi vẫn nằm trong mẫu số.</a:t>
            </a:r>
          </a:p>
        </p:txBody>
      </p:sp>
      <p:sp>
        <p:nvSpPr>
          <p:cNvPr id="6" name="Rectangle 5"/>
          <p:cNvSpPr/>
          <p:nvPr/>
        </p:nvSpPr>
        <p:spPr>
          <a:xfrm>
            <a:off x="1170432" y="786384"/>
            <a:ext cx="9107424" cy="50292"/>
          </a:xfrm>
          <a:prstGeom prst="rect">
            <a:avLst/>
          </a:prstGeom>
          <a:solidFill>
            <a:srgbClr val="1227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552176" y="786384"/>
            <a:ext cx="1042415" cy="50292"/>
          </a:xfrm>
          <a:prstGeom prst="rect">
            <a:avLst/>
          </a:prstGeom>
          <a:solidFill>
            <a:srgbClr val="E06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0" y="310896"/>
            <a:ext cx="217627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472"/>
                </a:solidFill>
                <a:latin typeface="Arial"/>
              </a:rPr>
              <a:t>Scenario Forge · P-130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472"/>
                </a:solidFill>
                <a:latin typeface="Arial"/>
              </a:rPr>
              <a:t>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88720" y="1325880"/>
            <a:ext cx="2468880" cy="1188720"/>
          </a:xfrm>
          <a:prstGeom prst="rect">
            <a:avLst/>
          </a:prstGeom>
          <a:solidFill>
            <a:srgbClr val="F2F4F8"/>
          </a:solidFill>
          <a:ln w="9525">
            <a:solidFill>
              <a:srgbClr val="D5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35024" y="1472184"/>
            <a:ext cx="2176272" cy="896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F62B8"/>
                </a:solidFill>
                <a:latin typeface="Arial"/>
              </a:rPr>
              <a:t>2,766 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472"/>
                </a:solidFill>
                <a:latin typeface="Arial"/>
              </a:rPr>
              <a:t>latency p50 · toàn workflow 7 node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0" y="1325880"/>
            <a:ext cx="2468880" cy="1188720"/>
          </a:xfrm>
          <a:prstGeom prst="rect">
            <a:avLst/>
          </a:prstGeom>
          <a:solidFill>
            <a:srgbClr val="F2F4F8"/>
          </a:solidFill>
          <a:ln w="9525">
            <a:solidFill>
              <a:srgbClr val="D5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86784" y="1472184"/>
            <a:ext cx="2176272" cy="896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F62B8"/>
                </a:solidFill>
                <a:latin typeface="Arial"/>
              </a:rPr>
              <a:t>4,152 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472"/>
                </a:solidFill>
                <a:latin typeface="Arial"/>
              </a:rPr>
              <a:t>latency p95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92240" y="1325880"/>
            <a:ext cx="2468880" cy="1188720"/>
          </a:xfrm>
          <a:prstGeom prst="rect">
            <a:avLst/>
          </a:prstGeom>
          <a:solidFill>
            <a:srgbClr val="F2F4F8"/>
          </a:solidFill>
          <a:ln w="9525">
            <a:solidFill>
              <a:srgbClr val="D5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38544" y="1472184"/>
            <a:ext cx="2176272" cy="896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F62B8"/>
                </a:solidFill>
                <a:latin typeface="Arial"/>
              </a:rPr>
              <a:t>$0,002304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472"/>
                </a:solidFill>
                <a:latin typeface="Arial"/>
              </a:rPr>
              <a:t>cost p50 / request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0" y="1325880"/>
            <a:ext cx="2468880" cy="1188720"/>
          </a:xfrm>
          <a:prstGeom prst="rect">
            <a:avLst/>
          </a:prstGeom>
          <a:solidFill>
            <a:srgbClr val="F2F4F8"/>
          </a:solidFill>
          <a:ln w="9525">
            <a:solidFill>
              <a:srgbClr val="D5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90304" y="1472184"/>
            <a:ext cx="2176272" cy="896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F62B8"/>
                </a:solidFill>
                <a:latin typeface="Arial"/>
              </a:rPr>
              <a:t>$0,004582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472"/>
                </a:solidFill>
                <a:latin typeface="Arial"/>
              </a:rPr>
              <a:t>cost p95 / request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88720" y="2880360"/>
            <a:ext cx="10424159" cy="1417320"/>
          </a:xfrm>
          <a:prstGeom prst="rect">
            <a:avLst/>
          </a:prstGeom>
          <a:solidFill>
            <a:srgbClr val="F2F4F8"/>
          </a:solidFill>
          <a:ln w="9525">
            <a:solidFill>
              <a:srgbClr val="D5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63040" y="3090672"/>
            <a:ext cx="512064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12275D"/>
                </a:solidFill>
                <a:latin typeface="Arial"/>
              </a:rPr>
              <a:t>$0,054  cho cả 20 request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6472"/>
                </a:solidFill>
                <a:latin typeface="Arial"/>
              </a:rPr>
              <a:t>17/20 request hoàn tất. Ba request wrong_way bị validator từ chối vì model đặt xe ngoài tầm anchor — không lọc ra khỏi mẫu số.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3090672"/>
            <a:ext cx="466344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E06C1F"/>
                </a:solidFill>
                <a:latin typeface="Arial"/>
              </a:rPr>
              <a:t>91,96% input token đọc từ cache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6472"/>
                </a:solidFill>
                <a:latin typeface="Arial"/>
              </a:rPr>
              <a:t>Cùng tập đo, nếu tính giá input thường thì chi phí LLM là $0,157 thay vì $0,054 — cached pricing giảm 65,32%.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4617720"/>
            <a:ext cx="10424159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 i="0">
                <a:solidFill>
                  <a:srgbClr val="12275D"/>
                </a:solidFill>
                <a:latin typeface="Arial"/>
              </a:rPr>
              <a:t>•  16/20 câu được parser rule xử lý trọn — không tốn một lời gọi LLM nào.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 i="0">
                <a:solidFill>
                  <a:srgbClr val="12275D"/>
                </a:solidFill>
                <a:latin typeface="Arial"/>
              </a:rPr>
              <a:t>•  Không request nào phải leo thang lên model đắt hơn.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 i="0">
                <a:solidFill>
                  <a:srgbClr val="12275D"/>
                </a:solidFill>
                <a:latin typeface="Arial"/>
              </a:rPr>
              <a:t>•  Đây là snapshot một máy, một đường mạng — chưa phải load test.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solidFill>
            <a:srgbClr val="00A6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 rot="16200000">
            <a:off x="-1623060" y="3154680"/>
            <a:ext cx="402336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Bằng chứng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74320"/>
            <a:ext cx="8778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2275D"/>
                </a:solidFill>
                <a:latin typeface="Arial"/>
              </a:rPr>
              <a:t>Model rẻ hơn 73% — và em không đổi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6309360"/>
            <a:ext cx="9326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5A6472"/>
                </a:solidFill>
                <a:latin typeface="Arial"/>
              </a:rPr>
              <a:t>Cùng 20 mô tả, cùng snapshot database, cùng reasoning_effort.</a:t>
            </a:r>
          </a:p>
        </p:txBody>
      </p:sp>
      <p:sp>
        <p:nvSpPr>
          <p:cNvPr id="6" name="Rectangle 5"/>
          <p:cNvSpPr/>
          <p:nvPr/>
        </p:nvSpPr>
        <p:spPr>
          <a:xfrm>
            <a:off x="1170432" y="786384"/>
            <a:ext cx="9107424" cy="50292"/>
          </a:xfrm>
          <a:prstGeom prst="rect">
            <a:avLst/>
          </a:prstGeom>
          <a:solidFill>
            <a:srgbClr val="1227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552176" y="786384"/>
            <a:ext cx="1042415" cy="50292"/>
          </a:xfrm>
          <a:prstGeom prst="rect">
            <a:avLst/>
          </a:prstGeom>
          <a:solidFill>
            <a:srgbClr val="E06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0" y="310896"/>
            <a:ext cx="217627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472"/>
                </a:solidFill>
                <a:latin typeface="Arial"/>
              </a:rPr>
              <a:t>Scenario Forge · P-130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472"/>
                </a:solidFill>
                <a:latin typeface="Arial"/>
              </a:rPr>
              <a:t>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234440"/>
            <a:ext cx="3246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275D"/>
                </a:solidFill>
                <a:latin typeface="Arial"/>
              </a:rPr>
              <a:t>Latency p50 (s)</a:t>
            </a:r>
          </a:p>
        </p:txBody>
      </p:sp>
      <p:sp>
        <p:nvSpPr>
          <p:cNvPr id="11" name="Round Same Side Corner Rectangle 10"/>
          <p:cNvSpPr/>
          <p:nvPr/>
        </p:nvSpPr>
        <p:spPr>
          <a:xfrm>
            <a:off x="1691640" y="2283912"/>
            <a:ext cx="777240" cy="962207"/>
          </a:xfrm>
          <a:prstGeom prst="round2SameRect">
            <a:avLst/>
          </a:prstGeom>
          <a:solidFill>
            <a:srgbClr val="2F6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99032" y="1973016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2275D"/>
                </a:solidFill>
                <a:latin typeface="Arial"/>
              </a:rPr>
              <a:t>2,766</a:t>
            </a:r>
          </a:p>
        </p:txBody>
      </p:sp>
      <p:sp>
        <p:nvSpPr>
          <p:cNvPr id="13" name="Round Same Side Corner Rectangle 12"/>
          <p:cNvSpPr/>
          <p:nvPr/>
        </p:nvSpPr>
        <p:spPr>
          <a:xfrm>
            <a:off x="2926080" y="1872035"/>
            <a:ext cx="777240" cy="1374084"/>
          </a:xfrm>
          <a:prstGeom prst="round2SameRect">
            <a:avLst/>
          </a:prstGeom>
          <a:solidFill>
            <a:srgbClr val="E06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33472" y="1561139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2275D"/>
                </a:solidFill>
                <a:latin typeface="Arial"/>
              </a:rPr>
              <a:t>3,950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88720" y="3246120"/>
            <a:ext cx="3246120" cy="10972"/>
          </a:xfrm>
          <a:prstGeom prst="rect">
            <a:avLst/>
          </a:prstGeom>
          <a:solidFill>
            <a:srgbClr val="D5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3355848"/>
            <a:ext cx="3246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06C1F"/>
                </a:solidFill>
                <a:latin typeface="Arial"/>
              </a:rPr>
              <a:t>Luna chậm hơn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90872" y="1234440"/>
            <a:ext cx="3246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275D"/>
                </a:solidFill>
                <a:latin typeface="Arial"/>
              </a:rPr>
              <a:t>Latency p95 (s)</a:t>
            </a:r>
          </a:p>
        </p:txBody>
      </p:sp>
      <p:sp>
        <p:nvSpPr>
          <p:cNvPr id="18" name="Round Same Side Corner Rectangle 17"/>
          <p:cNvSpPr/>
          <p:nvPr/>
        </p:nvSpPr>
        <p:spPr>
          <a:xfrm>
            <a:off x="5193792" y="2348278"/>
            <a:ext cx="777240" cy="897841"/>
          </a:xfrm>
          <a:prstGeom prst="round2SameRect">
            <a:avLst/>
          </a:prstGeom>
          <a:solidFill>
            <a:srgbClr val="2F6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01183" y="2037382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2275D"/>
                </a:solidFill>
                <a:latin typeface="Arial"/>
              </a:rPr>
              <a:t>4,152</a:t>
            </a:r>
          </a:p>
        </p:txBody>
      </p:sp>
      <p:sp>
        <p:nvSpPr>
          <p:cNvPr id="20" name="Round Same Side Corner Rectangle 19"/>
          <p:cNvSpPr/>
          <p:nvPr/>
        </p:nvSpPr>
        <p:spPr>
          <a:xfrm>
            <a:off x="6428231" y="1790802"/>
            <a:ext cx="777240" cy="1455317"/>
          </a:xfrm>
          <a:prstGeom prst="round2SameRect">
            <a:avLst/>
          </a:prstGeom>
          <a:solidFill>
            <a:srgbClr val="E06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35623" y="1479906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2275D"/>
                </a:solidFill>
                <a:latin typeface="Arial"/>
              </a:rPr>
              <a:t>6,730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90872" y="3246120"/>
            <a:ext cx="3246120" cy="10972"/>
          </a:xfrm>
          <a:prstGeom prst="rect">
            <a:avLst/>
          </a:prstGeom>
          <a:solidFill>
            <a:srgbClr val="D5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90872" y="3355848"/>
            <a:ext cx="3246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06C1F"/>
                </a:solidFill>
                <a:latin typeface="Arial"/>
              </a:rPr>
              <a:t>Luna chậm hơn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93024" y="1234440"/>
            <a:ext cx="3246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275D"/>
                </a:solidFill>
                <a:latin typeface="Arial"/>
              </a:rPr>
              <a:t>Cost p50 ($/request)</a:t>
            </a:r>
          </a:p>
        </p:txBody>
      </p:sp>
      <p:sp>
        <p:nvSpPr>
          <p:cNvPr id="25" name="Round Same Side Corner Rectangle 24"/>
          <p:cNvSpPr/>
          <p:nvPr/>
        </p:nvSpPr>
        <p:spPr>
          <a:xfrm>
            <a:off x="8695944" y="1880616"/>
            <a:ext cx="777240" cy="1365503"/>
          </a:xfrm>
          <a:prstGeom prst="round2SameRect">
            <a:avLst/>
          </a:prstGeom>
          <a:solidFill>
            <a:srgbClr val="2F6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03336" y="15697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2275D"/>
                </a:solidFill>
                <a:latin typeface="Arial"/>
              </a:rPr>
              <a:t>0,002304</a:t>
            </a:r>
          </a:p>
        </p:txBody>
      </p:sp>
      <p:sp>
        <p:nvSpPr>
          <p:cNvPr id="27" name="Round Same Side Corner Rectangle 26"/>
          <p:cNvSpPr/>
          <p:nvPr/>
        </p:nvSpPr>
        <p:spPr>
          <a:xfrm>
            <a:off x="9930384" y="2875110"/>
            <a:ext cx="777240" cy="371009"/>
          </a:xfrm>
          <a:prstGeom prst="round2SameRect">
            <a:avLst/>
          </a:prstGeom>
          <a:solidFill>
            <a:srgbClr val="E06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37776" y="2564214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2275D"/>
                </a:solidFill>
                <a:latin typeface="Arial"/>
              </a:rPr>
              <a:t>0,000626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93024" y="3246120"/>
            <a:ext cx="3246120" cy="10972"/>
          </a:xfrm>
          <a:prstGeom prst="rect">
            <a:avLst/>
          </a:prstGeom>
          <a:solidFill>
            <a:srgbClr val="D5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93024" y="3355848"/>
            <a:ext cx="3246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A651"/>
                </a:solidFill>
                <a:latin typeface="Arial"/>
              </a:rPr>
              <a:t>Luna rẻ hơn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88720" y="3927348"/>
            <a:ext cx="146304" cy="146304"/>
          </a:xfrm>
          <a:prstGeom prst="rect">
            <a:avLst/>
          </a:prstGeom>
          <a:solidFill>
            <a:srgbClr val="2F6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408176" y="3886200"/>
            <a:ext cx="237744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472"/>
                </a:solidFill>
                <a:latin typeface="Arial"/>
              </a:rPr>
              <a:t>gpt-5.4-mini (đang dùng)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55033" y="3927348"/>
            <a:ext cx="146304" cy="146304"/>
          </a:xfrm>
          <a:prstGeom prst="rect">
            <a:avLst/>
          </a:prstGeom>
          <a:solidFill>
            <a:srgbClr val="E06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74489" y="3886200"/>
            <a:ext cx="237744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472"/>
                </a:solidFill>
                <a:latin typeface="Arial"/>
              </a:rPr>
              <a:t>gpt-5.6 Luna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88720" y="4434840"/>
            <a:ext cx="10424159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2275D"/>
                </a:solidFill>
                <a:latin typeface="Arial"/>
              </a:rPr>
              <a:t>Rẻ hơn 72,8% mỗi request. Nhưng p50 chậm hơn 42,8%, p95 chậm hơn 62,1%.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A6472"/>
                </a:solidFill>
                <a:latin typeface="Arial"/>
              </a:rPr>
              <a:t>Tỉ lệ hoàn tất y hệt: 17/20. Vẫn trượt đúng ba mô tả wrong_way cũ. Rẻ hơn mà không sửa được failure mode đã biết, lại đánh đổi bằng độ trễ người dùng cảm nhận được — nên giữ gpt-5.4-mini làm primary, và ghi Luna lại như phương án dự phòng khi chi phí thành ràng buộc.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solidFill>
            <a:srgbClr val="1227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 rot="16200000">
            <a:off x="-1623060" y="3154680"/>
            <a:ext cx="402336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Tiếp theo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74320"/>
            <a:ext cx="8778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2275D"/>
                </a:solidFill>
                <a:latin typeface="Arial"/>
              </a:rPr>
              <a:t>Ai dùng, và thay cho việc gì</a:t>
            </a:r>
          </a:p>
        </p:txBody>
      </p:sp>
      <p:sp>
        <p:nvSpPr>
          <p:cNvPr id="5" name="Rectangle 4"/>
          <p:cNvSpPr/>
          <p:nvPr/>
        </p:nvSpPr>
        <p:spPr>
          <a:xfrm>
            <a:off x="1170432" y="786384"/>
            <a:ext cx="9107424" cy="50292"/>
          </a:xfrm>
          <a:prstGeom prst="rect">
            <a:avLst/>
          </a:prstGeom>
          <a:solidFill>
            <a:srgbClr val="1227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552176" y="786384"/>
            <a:ext cx="1042415" cy="50292"/>
          </a:xfrm>
          <a:prstGeom prst="rect">
            <a:avLst/>
          </a:prstGeom>
          <a:solidFill>
            <a:srgbClr val="E06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310896"/>
            <a:ext cx="217627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472"/>
                </a:solidFill>
                <a:latin typeface="Arial"/>
              </a:rPr>
              <a:t>Scenario Forge · P-130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472"/>
                </a:solidFill>
                <a:latin typeface="Arial"/>
              </a:rPr>
              <a:t>14</a:t>
            </a:r>
          </a:p>
        </p:txBody>
      </p:sp>
      <p:sp>
        <p:nvSpPr>
          <p:cNvPr id="9" name="Rectangle 8"/>
          <p:cNvSpPr/>
          <p:nvPr/>
        </p:nvSpPr>
        <p:spPr>
          <a:xfrm>
            <a:off x="1188720" y="1234440"/>
            <a:ext cx="10424159" cy="1005840"/>
          </a:xfrm>
          <a:prstGeom prst="rect">
            <a:avLst/>
          </a:prstGeom>
          <a:solidFill>
            <a:srgbClr val="F2F4F8"/>
          </a:solidFill>
          <a:ln w="9525">
            <a:solidFill>
              <a:srgbClr val="D5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63040" y="1399032"/>
            <a:ext cx="987551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2275D"/>
                </a:solidFill>
                <a:latin typeface="Arial"/>
              </a:rPr>
              <a:t>Đội phát triển ADAS / AV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A6472"/>
                </a:solidFill>
                <a:latin typeface="Arial"/>
              </a:rPr>
              <a:t>Cần tình huống hiếm để thử controller trước khi ra đường thật.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88720" y="2423160"/>
            <a:ext cx="10424159" cy="1005840"/>
          </a:xfrm>
          <a:prstGeom prst="rect">
            <a:avLst/>
          </a:prstGeom>
          <a:solidFill>
            <a:srgbClr val="F2F4F8"/>
          </a:solidFill>
          <a:ln w="9525">
            <a:solidFill>
              <a:srgbClr val="D5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63040" y="2587752"/>
            <a:ext cx="987551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2275D"/>
                </a:solidFill>
                <a:latin typeface="Arial"/>
              </a:rPr>
              <a:t>Đội kiểm thử &amp; QA mô phỏng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A6472"/>
                </a:solidFill>
                <a:latin typeface="Arial"/>
              </a:rPr>
              <a:t>Viết và sửa .xosc thủ công tốn thời gian, nhất là phần làn đường, trigger và validation.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88720" y="3611880"/>
            <a:ext cx="10424159" cy="1005840"/>
          </a:xfrm>
          <a:prstGeom prst="rect">
            <a:avLst/>
          </a:prstGeom>
          <a:solidFill>
            <a:srgbClr val="F2F4F8"/>
          </a:solidFill>
          <a:ln w="9525">
            <a:solidFill>
              <a:srgbClr val="D5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63040" y="3776472"/>
            <a:ext cx="987551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2275D"/>
                </a:solidFill>
                <a:latin typeface="Arial"/>
              </a:rPr>
              <a:t>Lab &amp; trường kỹ thuật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A6472"/>
                </a:solidFill>
                <a:latin typeface="Arial"/>
              </a:rPr>
              <a:t>Cần bộ kịch bản có thể tái lập để so sánh giữa các nghiên cứu.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88720" y="4892040"/>
            <a:ext cx="10424159" cy="1188720"/>
          </a:xfrm>
          <a:prstGeom prst="rect">
            <a:avLst/>
          </a:prstGeom>
          <a:solidFill>
            <a:srgbClr val="FFFFFF"/>
          </a:solidFill>
          <a:ln w="15875">
            <a:solidFill>
              <a:srgbClr val="2F62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63040" y="5074920"/>
            <a:ext cx="987551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12275D"/>
                </a:solidFill>
                <a:latin typeface="Arial"/>
              </a:rPr>
              <a:t>Điểm bán thật không phải “AI sinh XML”.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A6472"/>
                </a:solidFill>
                <a:latin typeface="Arial"/>
              </a:rPr>
              <a:t>Là một thư viện kịch bản mà mỗi mục đều có bằng chứng CARLA và chữ ký người duyệt đứng sau. Sinh nhanh thì ai cũng làm được; sinh mà tin được thì phải có hai cổng kia.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solidFill>
            <a:srgbClr val="1227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 rot="16200000">
            <a:off x="-1623060" y="3154680"/>
            <a:ext cx="402336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Tiếp theo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74320"/>
            <a:ext cx="8778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2275D"/>
                </a:solidFill>
                <a:latin typeface="Arial"/>
              </a:rPr>
              <a:t>Làm gì tiếp</a:t>
            </a:r>
          </a:p>
        </p:txBody>
      </p:sp>
      <p:sp>
        <p:nvSpPr>
          <p:cNvPr id="5" name="Rectangle 4"/>
          <p:cNvSpPr/>
          <p:nvPr/>
        </p:nvSpPr>
        <p:spPr>
          <a:xfrm>
            <a:off x="1170432" y="786384"/>
            <a:ext cx="9107424" cy="50292"/>
          </a:xfrm>
          <a:prstGeom prst="rect">
            <a:avLst/>
          </a:prstGeom>
          <a:solidFill>
            <a:srgbClr val="1227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552176" y="786384"/>
            <a:ext cx="1042415" cy="50292"/>
          </a:xfrm>
          <a:prstGeom prst="rect">
            <a:avLst/>
          </a:prstGeom>
          <a:solidFill>
            <a:srgbClr val="E06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310896"/>
            <a:ext cx="217627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472"/>
                </a:solidFill>
                <a:latin typeface="Arial"/>
              </a:rPr>
              <a:t>Scenario Forge · P-130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472"/>
                </a:solidFill>
                <a:latin typeface="Arial"/>
              </a:rPr>
              <a:t>15</a:t>
            </a:r>
          </a:p>
        </p:txBody>
      </p:sp>
      <p:sp>
        <p:nvSpPr>
          <p:cNvPr id="9" name="Rectangle 8"/>
          <p:cNvSpPr/>
          <p:nvPr/>
        </p:nvSpPr>
        <p:spPr>
          <a:xfrm>
            <a:off x="1188720" y="1188720"/>
            <a:ext cx="10424159" cy="786384"/>
          </a:xfrm>
          <a:prstGeom prst="rect">
            <a:avLst/>
          </a:prstGeom>
          <a:solidFill>
            <a:srgbClr val="F2F4F8"/>
          </a:solidFill>
          <a:ln w="9525">
            <a:solidFill>
              <a:srgbClr val="D5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63040" y="1316736"/>
            <a:ext cx="987551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12275D"/>
                </a:solidFill>
                <a:latin typeface="Arial"/>
              </a:rPr>
              <a:t>Cắm controller của doanh nghiệp vào chỗ BehaviorAgent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6472"/>
                </a:solidFill>
                <a:latin typeface="Arial"/>
              </a:rPr>
              <a:t>Thêm một adapter ở worker là xong — backend không phải đụng tới. Câu hỏi đổi thành: kịch bản nào làm controller CỦA BẠN thất bại.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88720" y="2121408"/>
            <a:ext cx="10424159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63040" y="2249424"/>
            <a:ext cx="987551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12275D"/>
                </a:solidFill>
                <a:latin typeface="Arial"/>
              </a:rPr>
              <a:t>Chạy CARLA cho 59 ô đã có kịch bản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6472"/>
                </a:solidFill>
                <a:latin typeface="Arial"/>
              </a:rPr>
              <a:t>Ô đã kín, lượt chạy thì chưa: 13/72. Thứ tự đọc thẳng từ slide độ phủ — không cần họp để quyết chạy ô nào trước.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88720" y="3054096"/>
            <a:ext cx="10424159" cy="786384"/>
          </a:xfrm>
          <a:prstGeom prst="rect">
            <a:avLst/>
          </a:prstGeom>
          <a:solidFill>
            <a:srgbClr val="F2F4F8"/>
          </a:solidFill>
          <a:ln w="9525">
            <a:solidFill>
              <a:srgbClr val="D5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63040" y="3182112"/>
            <a:ext cx="987551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12275D"/>
                </a:solidFill>
                <a:latin typeface="Arial"/>
              </a:rPr>
              <a:t>Mở rộng nhãn người trên từng maneuver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6472"/>
                </a:solidFill>
                <a:latin typeface="Arial"/>
              </a:rPr>
              <a:t>Hiện mới chấm tay 13 lượt, tập trung vào case lỗi đã biết. Càng nhiều nhãn thì con số 76,92% càng nói được nhiều.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88720" y="3986784"/>
            <a:ext cx="10424159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63040" y="4114800"/>
            <a:ext cx="987551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12275D"/>
                </a:solidFill>
                <a:latin typeface="Arial"/>
              </a:rPr>
              <a:t>Siết phân quyền ở backend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6472"/>
                </a:solidFill>
                <a:latin typeface="Arial"/>
              </a:rPr>
              <a:t>Enforce token/role cho review và WORKER_TOKEN, không chỉ phân vai trên frontend.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88720" y="4846320"/>
            <a:ext cx="10424159" cy="1234440"/>
          </a:xfrm>
          <a:prstGeom prst="rect">
            <a:avLst/>
          </a:prstGeom>
          <a:solidFill>
            <a:srgbClr val="1227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08760" y="5047488"/>
            <a:ext cx="9784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Live URL  ·  Repo  ·  Kiến trúc  ·  Báo cáo đánh giá đầy đủ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7D2E8"/>
                </a:solidFill>
                <a:latin typeface="Arial"/>
              </a:rPr>
              <a:t>c4-app-t130.vercel.app   ·   github.com/AI20K-Build-Phase-Cohort-3/P-130   ·   ARCHITECTURE.md   ·   eval/results/report.md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