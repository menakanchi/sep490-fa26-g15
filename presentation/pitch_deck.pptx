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Chào mọi người. Em là Công, dự án P-130, tên sản phẩm là Scenario Forge.</a:t>
            </a:r>
          </a:p>
          <a:p/>
          <a:p>
            <a:r>
              <a:t>Một câu thôi: kỹ sư gõ một câu tiếng Việt mô tả tình huống giao thông nguy</a:t>
            </a:r>
          </a:p>
          <a:p>
            <a:r>
              <a:t>hiểm, hệ thống trả về một file kịch bản mô phỏng chạy được thật trên CARLA.</a:t>
            </a:r>
          </a:p>
          <a:p/>
          <a:p>
            <a:r>
              <a:t>Mười phút, nên em đi thẳng: vấn đề, sản phẩm, demo, rồi số đo. Phần kỹ thuật</a:t>
            </a:r>
          </a:p>
          <a:p>
            <a:r>
              <a:t>bên dưới em để dành cho câu hỏi.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Xe tự lái chạy tốt trên đường thẳng. Nó hỏng ở tình huống hiếm — bị tạt đầu,</a:t>
            </a:r>
          </a:p>
          <a:p>
            <a:r>
              <a:t>gặp xe đi ngược chiều, xe vượt đèn đỏ cắt ngang.</a:t>
            </a:r>
          </a:p>
          <a:p/>
          <a:p>
            <a:r>
              <a:t>Muốn kiểm tra những tình huống đó thì phải dựng được chúng trong mô phỏng, mà</a:t>
            </a:r>
          </a:p>
          <a:p>
            <a:r>
              <a:t>mô phỏng ăn file OpenSCENARIO — XML hàng trăm dòng, toạ độ theo làn, trigger</a:t>
            </a:r>
          </a:p>
          <a:p>
            <a:r>
              <a:t>theo thời gian và vị trí.</a:t>
            </a:r>
          </a:p>
          <a:p/>
          <a:p>
            <a:r>
              <a:t>Vấn đề thật nằm ở đây: người biết tình huống nào nguy hiểm thường không phải</a:t>
            </a:r>
          </a:p>
          <a:p>
            <a:r>
              <a:t>người viết được XML đó. Mỗi kịch bản mới là nửa ngày mò tài liệu, và sai một</a:t>
            </a:r>
          </a:p>
          <a:p>
            <a:r>
              <a:t>dấu trừ ở offset là xe xuất phát nhầm phía.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toàn bộ sản phẩm trên một slide.</a:t>
            </a:r>
          </a:p>
          <a:p/>
          <a:p>
            <a:r>
              <a:t>Bên trái là thứ người dùng gõ: một câu tiếng Việt bình thường. Bên phải là thứ</a:t>
            </a:r>
          </a:p>
          <a:p>
            <a:r>
              <a:t>họ nhận: file .xosc đúng chuẩn OpenSCENARIO 1.0, tải về là chạy.</a:t>
            </a:r>
          </a:p>
          <a:p/>
          <a:p>
            <a:r>
              <a:t>Dòng code ở dưới là để mọi người thấy nó thật. `ds = -25` nghĩa là xe máy xuất</a:t>
            </a:r>
          </a:p>
          <a:p>
            <a:r>
              <a:t>phát phía SAU ô tô — muốn vượt lên tạt đầu thì bắt buộc phải thế, và đây đúng là</a:t>
            </a:r>
          </a:p>
          <a:p>
            <a:r>
              <a:t>chỗ người viết tay hay sai dấu.</a:t>
            </a:r>
          </a:p>
          <a:p/>
          <a:p>
            <a:r>
              <a:t>Người dùng không thấy dòng này. Họ chỉ gõ câu tiếng Việt.</a:t>
            </a:r>
          </a:p>
          <a:p/>
          <a:p>
            <a:r>
              <a:t>Nếu được hỏi bên trong: bảy node LangGraph, LLM chỉ làm ba node — hiểu câu, sinh</a:t>
            </a:r>
          </a:p>
          <a:p>
            <a:r>
              <a:t>bản nháp, sửa bản nháp. Bốn node còn lại là code tất định: tra thư viện, validate</a:t>
            </a:r>
          </a:p>
          <a:p>
            <a:r>
              <a:t>bốn tầng, dựng XML, ghi database. Chỗ nào sai được thì không giao cho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Sáu maneuver đang nằm trong phạm vi cam kết: tạt đầu, lệch làn, phanh gấp, dừng</a:t>
            </a:r>
          </a:p>
          <a:p>
            <a:r>
              <a:t>giữa làn, đi ngược chiều, vượt đèn đỏ.</a:t>
            </a:r>
          </a:p>
          <a:p/>
          <a:p>
            <a:r>
              <a:t>&gt;&gt;&gt; CHUYỂN SANG DEMO TRỰC TIẾP Ở ĐÂY &lt;&lt;&lt;</a:t>
            </a:r>
          </a:p>
          <a:p/>
          <a:p>
            <a:r>
              <a:t>Kịch bản demo: gõ một câu, xem hệ thống sinh, duyệt cổng 1, CARLA chạy, xem kết</a:t>
            </a:r>
          </a:p>
          <a:p>
            <a:r>
              <a:t>quả, rồi bấm "sinh biến thể khó hơn".</a:t>
            </a:r>
          </a:p>
          <a:p/>
          <a:p>
            <a:r>
              <a:t>Nếu hết giờ demo thì bỏ phần biến thể, giữ phần CARLA chạy.</a:t>
            </a:r>
          </a:p>
          <a:p/>
          <a:p>
            <a:r>
              <a:t>Có một cái thứ bảy là người đi bộ băng ngang, em đã CHỦ ĐỘNG bỏ khỏi phạm vi:</a:t>
            </a:r>
          </a:p>
          <a:p>
            <a:r>
              <a:t>trên anchor cao tốc nó vô lý. Thà nói sáu cái chạy đúng còn hơn bảy cái mà một</a:t>
            </a:r>
          </a:p>
          <a:p>
            <a:r>
              <a:t>cái sai.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quyết định thiết kế em tự hào nhất, và nó từng SAI.</a:t>
            </a:r>
          </a:p>
          <a:p/>
          <a:p>
            <a:r>
              <a:t>Bản đầu tiên cho kịch bản vào thư viện trước, CARLA chạy sau. Nghĩa là một kịch</a:t>
            </a:r>
          </a:p>
          <a:p>
            <a:r>
              <a:t>bản chưa ai kiểm chứng đã có thể được dùng làm ví dụ cho lần sinh tiếp theo. Đó</a:t>
            </a:r>
          </a:p>
          <a:p>
            <a:r>
              <a:t>là đường thẳng để thư viện tự bẩn: model học từ chính rác nó vừa sinh ra.</a:t>
            </a:r>
          </a:p>
          <a:p/>
          <a:p>
            <a:r>
              <a:t>Em đảo lại thứ tự. Bây giờ có hai cổng, cả hai đều là người thật.</a:t>
            </a:r>
          </a:p>
          <a:p/>
          <a:p>
            <a:r>
              <a:t>Cổng một bảo vệ tài nguyên: chưa ai duyệt thì không tốn một giây GPU. Cổng hai</a:t>
            </a:r>
          </a:p>
          <a:p>
            <a:r>
              <a:t>bảo vệ chất lượng dữ liệu: người phải xem kết quả CARLA thật rồi mới quyết định</a:t>
            </a:r>
          </a:p>
          <a:p>
            <a:r>
              <a:t>cho vào thư viện. Và chỉ sau cổng hai hệ thống mới tạo embedding.</a:t>
            </a:r>
          </a:p>
          <a:p/>
          <a:p>
            <a:r>
              <a:t>Bổ sung nếu bị hỏi: cổng thứ ba nữa ở tầng ví dụ few-shot — chỉ kịch bản đã</a:t>
            </a:r>
          </a:p>
          <a:p>
            <a:r>
              <a:t>CHỨNG MINH được là nguy hiểm mới được làm ví dụ. Duyệt vào thư viện chưa đủ.</a:t>
            </a:r>
          </a:p>
          <a:p>
            <a:r>
              <a:t>Hôm nay thư viện có 53 kịch bản nhưng chỉ 22 cái được dùng dạy model.</a:t>
            </a:r>
          </a:p>
          <a:p/>
          <a:p>
            <a:r>
              <a:t>AI đề xuất, người quyết định.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Phần nâng cao của đề bài. Câu hỏi thật là: kịch bản này có làm mô hình lái thất</a:t>
            </a:r>
          </a:p>
          <a:p>
            <a:r>
              <a:t>bại không?</a:t>
            </a:r>
          </a:p>
          <a:p/>
          <a:p>
            <a:r>
              <a:t>Cách làm: cùng một artifact, chạy hai lượt — baseline giữ tốc độ, và BehaviorAgent</a:t>
            </a:r>
          </a:p>
          <a:p>
            <a:r>
              <a:t>của CARLA. Cùng máy, cùng điều kiện đầu, chỉ đổi controller.</a:t>
            </a:r>
          </a:p>
          <a:p/>
          <a:p>
            <a:r>
              <a:t>Hai ngả. Nếu mô hình lái VẪN đâm, đó là controller failure thật, hệ thống đề xuất</a:t>
            </a:r>
          </a:p>
          <a:p>
            <a:r>
              <a:t>giữ làm ca hồi quy. Nếu nó TRÁNH được, hệ thống đề nghị sinh một bản khó hơn.</a:t>
            </a:r>
          </a:p>
          <a:p/>
          <a:p>
            <a:r>
              <a:t>Bảng bên phải là lần dò thật. Kịch bản gốc: xe tải cắt ngang ở 36 km/h, ego đi</a:t>
            </a:r>
          </a:p>
          <a:p>
            <a:r>
              <a:t>qua nút giao an toàn, khe hở gần 7 mét. Hệ thống tính lại: muốn hai xe tới điểm</a:t>
            </a:r>
          </a:p>
          <a:p>
            <a:r>
              <a:t>cắt cùng lúc thì xe cắt ngang phải chạy 22,2 km/h. Chạy lại — va chạm thật.</a:t>
            </a:r>
          </a:p>
          <a:p/>
          <a:p>
            <a:r>
              <a:t>Làm vậy cho cả lô: sáu ô vốn vô hại thành sáu va chạm.</a:t>
            </a:r>
          </a:p>
          <a:p/>
          <a:p>
            <a:r>
              <a:t>Câu hỏi hay bị hỏi: sao không tự động? Vì mỗi biến thể tốn GPU và sinh ra dữ liệu</a:t>
            </a:r>
          </a:p>
          <a:p>
            <a:r>
              <a:t>mới phải duyệt. Cho vòng lặp tự chạy là dựng một đường vòng qua đúng cái cổng em</a:t>
            </a:r>
          </a:p>
          <a:p>
            <a:r>
              <a:t>vừa nói ở slide trước. Người bấm là có chủ đích.</a:t>
            </a:r>
          </a:p>
          <a:p/>
          <a:p>
            <a:r>
              <a:t>Giới hạn nói thẳng nếu bị hỏi: BehaviorAgent là controller tham chiếu của CARLA,</a:t>
            </a:r>
          </a:p>
          <a:p>
            <a:r>
              <a:t>chưa phải mô hình của doanh nghiệp. Cắm model của họ vào chỉ cần thêm một adapter</a:t>
            </a:r>
          </a:p>
          <a:p>
            <a:r>
              <a:t>ở worker.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Bốn mức, đo từ database thật, không phải ước lượng.</a:t>
            </a:r>
          </a:p>
          <a:p/>
          <a:p>
            <a:r>
              <a:t>L1: bảy mươi mốt phần trăm câu vào ra được bản nháp qua validate. Mẫu số là một</a:t>
            </a:r>
          </a:p>
          <a:p>
            <a:r>
              <a:t>trăm ba mươi hai request, trong đó có cả những lượt hỏng của chiến dịch ODD chạy</a:t>
            </a:r>
          </a:p>
          <a:p>
            <a:r>
              <a:t>TRƯỚC khi em sửa ba lỗi prompt. Em không lọc chúng ra.</a:t>
            </a:r>
          </a:p>
          <a:p/>
          <a:p>
            <a:r>
              <a:t>L2 một trăm phần trăm. L3 một trăm phần trăm. L4 sáu mươi bốn.</a:t>
            </a:r>
          </a:p>
          <a:p/>
          <a:p>
            <a:r>
              <a:t>Ba con số dưới tách riêng bằng chứng vật lý và coverage: sáu mươi ba lượt va</a:t>
            </a:r>
          </a:p>
          <a:p>
            <a:r>
              <a:t>chạm thật, mười chín lượt không chạm nhưng khe hở dưới một mét, và đủ bảy mươi</a:t>
            </a:r>
          </a:p>
          <a:p>
            <a:r>
              <a:t>hai ô nằm trong phạm vi converter đã có lượt CARLA. Ngoài phạm vi chính còn ba</a:t>
            </a:r>
          </a:p>
          <a:p>
            <a:r>
              <a:t>ô lịch sử đã chạy; em không dùng cách viết 75/75 vì mẫu số chính thức của phạm</a:t>
            </a:r>
          </a:p>
          <a:p>
            <a:r>
              <a:t>vi hỗ trợ là 72.</a:t>
            </a:r>
          </a:p>
          <a:p/>
          <a:p>
            <a:r>
              <a:t>L4 là mức em muốn mọi người nhìn. Nó hỏi câu khó nhất: quỹ đạo xe trong CARLA có</a:t>
            </a:r>
          </a:p>
          <a:p>
            <a:r>
              <a:t>ĐÚNG là cái mà câu tiếng Việt mô tả không. Một kịch bản có thể chạy trót lọt, trả</a:t>
            </a:r>
          </a:p>
          <a:p>
            <a:r>
              <a:t>về success, và hoàn toàn vô dụng — xe chạy song song hiền lành suốt ba mươi giây.</a:t>
            </a:r>
          </a:p>
          <a:p>
            <a:r>
              <a:t>Đó là loại hỏng tệ nhất vì nó trông như thành công.</a:t>
            </a:r>
          </a:p>
          <a:p/>
          <a:p>
            <a:r>
              <a:t>--- Nếu bị hỏi "sao L4 chỉ sáu mươi bốn phần trăm", hoặc nếu muốn chủ động nói:</a:t>
            </a:r>
          </a:p>
          <a:p/>
          <a:p>
            <a:r>
              <a:t>Sáng nay con số này là bảy mươi sáu. Nó tụt vì em vừa chạy CARLA cho toàn bộ các</a:t>
            </a:r>
          </a:p>
          <a:p>
            <a:r>
              <a:t>ô ODD chưa từng được kiểm — mẫu số từ năm mươi chín lên một trăm mười lăm.</a:t>
            </a:r>
          </a:p>
          <a:p/>
          <a:p>
            <a:r>
              <a:t>Bảy mươi sáu phần trăm là đo trên hai mươi sáu ô đã được chăm kỹ nhất. Sáu mươi</a:t>
            </a:r>
          </a:p>
          <a:p>
            <a:r>
              <a:t>bốn là đo trên tất cả bảy mươi lăm ô. Con số thấp hơn nhưng nó là con số thật, và</a:t>
            </a:r>
          </a:p>
          <a:p>
            <a:r>
              <a:t>em chọn để nó trên slide.</a:t>
            </a:r>
          </a:p>
          <a:p/>
          <a:p>
            <a:r>
              <a:t>Đổi lại: số va chạm thật đi từ hai mươi lăm lên sáu mươi mốt.</a:t>
            </a:r>
          </a:p>
          <a:p/>
          <a:p>
            <a:r>
              <a:t>Và nó nói đúng một điều về sản phẩm: phủ hết ô ODD KHÔNG đồng nghĩa tìm được nguy</a:t>
            </a:r>
          </a:p>
          <a:p>
            <a:r>
              <a:t>hiểm. Một phần ba ô sinh ra kịch bản chạy trót lọt mà vô hại. Đó chính là lý do</a:t>
            </a:r>
          </a:p>
          <a:p>
            <a:r>
              <a:t>phần dò biến thể ở slide trước tồn tại — nó biến ô vô hại thành ô có va chạm.</a:t>
            </a:r>
          </a:p>
          <a:p/>
          <a:p>
            <a:r>
              <a:t>--- Bốn ô số dưới:</a:t>
            </a:r>
          </a:p>
          <a:p/>
          <a:p>
            <a:r>
              <a:t>Sáu mươi mốt va chạm thật trên CARLA. Sáu mươi bốn phần trăm tái hiện được nguy</a:t>
            </a:r>
          </a:p>
          <a:p>
            <a:r>
              <a:t>hiểm. Bảy mươi lăm trên bảy mươi lăm ô ODD đã có lượt chạy thật, không còn ô nào</a:t>
            </a:r>
          </a:p>
          <a:p>
            <a:r>
              <a:t>chỉ có kịch bản trên giấy. Và chi phí — hai phần nghìn đô một kịch bản, p50 dưới</a:t>
            </a:r>
          </a:p>
          <a:p>
            <a:r>
              <a:t>ba giây.</a:t>
            </a:r>
          </a:p>
          <a:p/>
          <a:p>
            <a:r>
              <a:t>Nếu bị hỏi vì sao rẻ: chín mươi hai phần trăm input token đọc từ cache, và bộ</a:t>
            </a:r>
          </a:p>
          <a:p>
            <a:r>
              <a:t>phân tích bằng luật xử lý trọn mười sáu trên hai mươi mô tả nên phần lớn request</a:t>
            </a:r>
          </a:p>
          <a:p>
            <a:r>
              <a:t>không cần gọi LLM ở bước hiểu câu.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Một việc, và nó là chỗ có giá trị thương mại: cắm controller của doanh nghiệp</a:t>
            </a:r>
          </a:p>
          <a:p>
            <a:r>
              <a:t>vào đúng chỗ BehaviorAgent đang đứng. Kiến trúc đã chừa sẵn khe đó — thêm một</a:t>
            </a:r>
          </a:p>
          <a:p>
            <a:r>
              <a:t>adapter ở worker, backend không phải sửa gì.</a:t>
            </a:r>
          </a:p>
          <a:p/>
          <a:p>
            <a:r>
              <a:t>Lúc đó câu hỏi đổi thành "kịch bản nào làm controller CỦA BẠN thất bại", và đó</a:t>
            </a:r>
          </a:p>
          <a:p>
            <a:r>
              <a:t>mới là câu doanh nghiệp trả tiền để trả lời.</a:t>
            </a:r>
          </a:p>
          <a:p/>
          <a:p>
            <a:r>
              <a:t>Repo, live URL, kiến trúc và báo cáo đánh giá đầy đủ ở slide này. Em xin hết,</a:t>
            </a:r>
          </a:p>
          <a:p>
            <a:r>
              <a:t>mời mọi người hỏi.</a:t>
            </a:r>
          </a:p>
          <a:p/>
          <a:p>
            <a:r>
              <a:t>--- Nếu bị hỏi "còn gì nữa chưa làm" thì ba việc sau, theo thứ tự:</a:t>
            </a:r>
          </a:p>
          <a:p/>
          <a:p>
            <a:r>
              <a:t>1. Bộ dò biến thể hiện đi một hướng. Có ca bản gốc đã ở 0,77 mét mà phép dò kéo</a:t>
            </a:r>
          </a:p>
          <a:p>
            <a:r>
              <a:t>   lên 1,18 — cái mốc nó nhắm không phải lúc nào cũng là điểm tới hạn nhất. Hệ</a:t>
            </a:r>
          </a:p>
          <a:p>
            <a:r>
              <a:t>   thống báo "không cải thiện" cho ca đó thay vì giấu. Lời giải là dò hai chiều.</a:t>
            </a:r>
          </a:p>
          <a:p/>
          <a:p>
            <a:r>
              <a:t>2. Tiêu chí xếp hạng biến thể nên tính thêm độ bền, không chỉ khe hở nhỏ nhất.</a:t>
            </a:r>
          </a:p>
          <a:p>
            <a:r>
              <a:t>   Đo được là ở sát điểm tới hạn một khác biệt cỡ một phần mười giây lật hẳn nhãn</a:t>
            </a:r>
          </a:p>
          <a:p>
            <a:r>
              <a:t>   va chạm — nên ca 0,1 mét không tái lập chắc chắn, ca va chạm dứt khoát đáng</a:t>
            </a:r>
          </a:p>
          <a:p>
            <a:r>
              <a:t>   giữ hơn.</a:t>
            </a:r>
          </a:p>
          <a:p/>
          <a:p>
            <a:r>
              <a:t>3. Siết token và role ở backend, hiện mới phân vai trên frontend.</a:t>
            </a:r>
          </a:p>
          <a:p/>
          <a:p>
            <a:r>
              <a:t>--- Nếu bị hỏi "sao không tải kịch bản có sẵn về dùng":</a:t>
            </a:r>
          </a:p>
          <a:p/>
          <a:p>
            <a:r>
              <a:t>ScenarioRunner có sẵn 35 lớp kịch bản, gồm đúng cut_in và hard_break. Nhưng kịch</a:t>
            </a:r>
          </a:p>
          <a:p>
            <a:r>
              <a:t>bản có sẵn cho bạn LOẠI tình huống, không cho bạn biết ở tốc độ nào thì xe của</a:t>
            </a:r>
          </a:p>
          <a:p>
            <a:r>
              <a:t>bạn đâm.</a:t>
            </a:r>
          </a:p>
          <a:p/>
          <a:p>
            <a:r>
              <a:t>Ví dụ thật: một ô vượt đèn đỏ, xe tải 36 km/h — đúng nhãn, đúng ODD, chạy trọn</a:t>
            </a:r>
          </a:p>
          <a:p>
            <a:r>
              <a:t>vẹn, khe hở gần 7 mét, vô dụng. Cùng kịch bản đó ở 22,2 km/h thì va chạm. Mười</a:t>
            </a:r>
          </a:p>
          <a:p>
            <a:r>
              <a:t>bốn trong hai mươi kịch bản vượt đèn đỏ sinh ra hôm nay chạy xong mà vô hại.</a:t>
            </a:r>
          </a:p>
          <a:p/>
          <a:p>
            <a:r>
              <a:t>Nguy hiểm không phải thuộc tính của loại maneuver. Nó là thuộc tính của bộ tham</a:t>
            </a:r>
          </a:p>
          <a:p>
            <a:r>
              <a:t>số cụ thể, đối với một mô hình lái cụ thể. Chỗ đó em đo được và tự dò tới.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33172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7315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731520"/>
            <a:ext cx="9875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4800" b="1" i="0">
                <a:solidFill>
                  <a:srgbClr val="FFFFFF"/>
                </a:solidFill>
                <a:latin typeface="Arial"/>
              </a:rPr>
              <a:t>Scenario Forge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C7D2E8"/>
                </a:solidFill>
                <a:latin typeface="Arial"/>
              </a:rPr>
              <a:t>Một câu tiếng Việt  →  một kịch bản OpenSCENARIO chạy được trên CARLA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4290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5A6472"/>
                </a:solidFill>
                <a:latin typeface="Arial"/>
              </a:rPr>
              <a:t>Kỹ sư mô tả tình huống nguy hiểm bằng tiếng Việt. Hệ thống sinh file .xosc, người duyệt, CARLA chạy thật, rồi mới vào thư viện.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576072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c4-app-t130.vercel.app   ·   github.com/AI20K-Build-Phase-Cohort-3/P-130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Vấn đề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Xe tự lái không hỏng ở đường thẳng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14300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12275D"/>
                </a:solidFill>
                <a:latin typeface="Arial"/>
              </a:rPr>
              <a:t>•  Nó hỏng ở tình huống hiếm: bị tạt đầu, xe ngược chiều, vượt đèn đỏ.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12275D"/>
                </a:solidFill>
                <a:latin typeface="Arial"/>
              </a:rPr>
              <a:t>•  Muốn thử những tình huống đó thì phải có kịch bản mô phỏng.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12275D"/>
                </a:solidFill>
                <a:latin typeface="Arial"/>
              </a:rPr>
              <a:t>•  Kịch bản là file XML hàng trăm dòng, viết tay, dễ sai hình học.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3246120"/>
            <a:ext cx="3200400" cy="12344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12275D"/>
                </a:solidFill>
                <a:latin typeface="Arial"/>
              </a:rPr>
              <a:t>Người biết tình huống nguy hiểm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kỹ sư kiểm thử, người lái thử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572000" y="3721608"/>
            <a:ext cx="777240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532120" y="3246120"/>
            <a:ext cx="320040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E06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E06C1F"/>
                </a:solidFill>
                <a:latin typeface="Arial"/>
              </a:rPr>
              <a:t>Khoảng trống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E06C1F"/>
                </a:solidFill>
                <a:latin typeface="Arial"/>
              </a:rPr>
              <a:t>OpenSCENARIO, toạ độ làn, trigger, XSD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915400" y="3721608"/>
            <a:ext cx="777240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875520" y="3246120"/>
            <a:ext cx="1737360" cy="12344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12275D"/>
                </a:solidFill>
                <a:latin typeface="Arial"/>
              </a:rPr>
              <a:t>.xosc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chạy được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5074920"/>
            <a:ext cx="104241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2275D"/>
                </a:solidFill>
                <a:latin typeface="Arial"/>
              </a:rPr>
              <a:t>Hai đầu là hai kỹ năng khác nhau. Ở giữa là chỗ mọi thứ tắc.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Giải pháp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Vào một câu. Ra một file chạy được.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325880"/>
            <a:ext cx="41605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9888" y="1536192"/>
            <a:ext cx="379476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INPUT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“Xe máy chạy 80 km/h ở làn bên trái, vượt lên từ phía sau ô tô, tạt đầu rồi phanh gấp còn 40 km/h. Trời quang, cao tốc.”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577840" y="2057400"/>
            <a:ext cx="685800" cy="310896"/>
          </a:xfrm>
          <a:prstGeom prst="rightArrow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1325880"/>
            <a:ext cx="2331720" cy="178308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Scenario Forge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LLM + code tất định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052560" y="2057400"/>
            <a:ext cx="685800" cy="310896"/>
          </a:xfrm>
          <a:prstGeom prst="rightArrow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966960" y="1325880"/>
            <a:ext cx="1645920" cy="1783080"/>
          </a:xfrm>
          <a:prstGeom prst="rect">
            <a:avLst/>
          </a:prstGeom>
          <a:solidFill>
            <a:srgbClr val="1B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.xosc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OpenSCENARIO 1.0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3520440"/>
            <a:ext cx="10424159" cy="11887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4752" y="3703320"/>
            <a:ext cx="9912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OUTPUT — vị trí theo làn, tốc độ, trigger, thời tiết, tiêu chí chấm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Consolas"/>
              </a:rPr>
              <a:t>&lt;RelativeLanePosition dLane="-1" ds="-25.0"/&gt;   &lt;AbsoluteSpeedAction value="22.2"/&gt;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983480"/>
            <a:ext cx="1042415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275D"/>
                </a:solidFill>
                <a:latin typeface="Arial"/>
              </a:rPr>
              <a:t>ds = −25 nghĩa là xe máy xuất phát PHÍA SAU. Sai dấu đó là hỏng cả kịch bản.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Sáu tình huống đang sinh được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Ảnh minh hoạ; kết quả chạy thật xem trong demo trực tiếp.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4</a:t>
            </a:r>
          </a:p>
        </p:txBody>
      </p:sp>
      <p:pic>
        <p:nvPicPr>
          <p:cNvPr id="10" name="Picture 9" descr="tile_cu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188720"/>
            <a:ext cx="3246120" cy="1581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88720" y="282549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Tạt đầu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cut_in</a:t>
            </a:r>
          </a:p>
        </p:txBody>
      </p:sp>
      <p:pic>
        <p:nvPicPr>
          <p:cNvPr id="12" name="Picture 11" descr="tile_lane_dr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0872" y="1188720"/>
            <a:ext cx="3246120" cy="1581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90872" y="282549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Lệch làn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lane_drift</a:t>
            </a:r>
          </a:p>
        </p:txBody>
      </p:sp>
      <p:pic>
        <p:nvPicPr>
          <p:cNvPr id="14" name="Picture 13" descr="tile_sudden_brak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3024" y="1188720"/>
            <a:ext cx="3246120" cy="1581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193024" y="282549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Phanh gấp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sudden_brake</a:t>
            </a:r>
          </a:p>
        </p:txBody>
      </p:sp>
      <p:pic>
        <p:nvPicPr>
          <p:cNvPr id="16" name="Picture 15" descr="tile_stop_in_la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8720" y="3337560"/>
            <a:ext cx="3246120" cy="15819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188720" y="497433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Dừng giữa làn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stop_in_lane</a:t>
            </a:r>
          </a:p>
        </p:txBody>
      </p:sp>
      <p:pic>
        <p:nvPicPr>
          <p:cNvPr id="18" name="Picture 17" descr="tile_wrong_wa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90872" y="3337560"/>
            <a:ext cx="3246120" cy="158191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690872" y="497433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Đi ngược chiều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wrong_way</a:t>
            </a:r>
          </a:p>
        </p:txBody>
      </p:sp>
      <p:pic>
        <p:nvPicPr>
          <p:cNvPr id="20" name="Picture 19" descr="tile_run_red_ligh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3024" y="3337560"/>
            <a:ext cx="3246120" cy="158191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193024" y="497433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Vượt đèn đỏ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run_red_light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Cách làm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Mọi kịch bản đều qua người duyệt và CARLA thật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1600200"/>
            <a:ext cx="1874519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12275D"/>
                </a:solidFill>
                <a:latin typeface="Arial"/>
              </a:rPr>
              <a:t>.xosc vừa sinh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2275D"/>
                </a:solidFill>
                <a:latin typeface="Arial"/>
              </a:rPr>
              <a:t>chờ duyệt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0671" y="2029967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37559" y="1600200"/>
            <a:ext cx="1965960" cy="114300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CỔNG 1 — người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cấp phép dùng GPU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330951" y="2029967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577839" y="1600200"/>
            <a:ext cx="1874519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12275D"/>
                </a:solidFill>
                <a:latin typeface="Arial"/>
              </a:rPr>
              <a:t>CARLA chạy thật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2275D"/>
                </a:solidFill>
                <a:latin typeface="Arial"/>
              </a:rPr>
              <a:t>trace + criteria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479791" y="2029967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26679" y="1600200"/>
            <a:ext cx="1965960" cy="114300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CỔNG 2 — người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xem bằng chứng thật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720072" y="2029967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966960" y="1600200"/>
            <a:ext cx="1600200" cy="1143000"/>
          </a:xfrm>
          <a:prstGeom prst="round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Thư viện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mới có embedding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33756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0" i="0">
                <a:solidFill>
                  <a:srgbClr val="12275D"/>
                </a:solidFill>
                <a:latin typeface="Arial"/>
              </a:rPr>
              <a:t>•  Cổng 1 bảo vệ GPU: không duyệt thì không tiêu một giây máy nào.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0" i="0">
                <a:solidFill>
                  <a:srgbClr val="12275D"/>
                </a:solidFill>
                <a:latin typeface="Arial"/>
              </a:rPr>
              <a:t>•  Cổng 2 bảo vệ dữ liệu: chỉ duyệt khi đã xem kết quả CARLA thật.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0" i="0">
                <a:solidFill>
                  <a:srgbClr val="12275D"/>
                </a:solidFill>
                <a:latin typeface="Arial"/>
              </a:rPr>
              <a:t>•  Chỉ kịch bản qua cổng 2 mới được làm ví dụ cho lần sinh sau.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5440680"/>
            <a:ext cx="104241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275D"/>
                </a:solidFill>
                <a:latin typeface="Arial"/>
              </a:rPr>
              <a:t>AI đề xuất. Người quyết định. Thư viện không tự bẩn.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Nâng cao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Mô hình lái thoát được? Sinh bản khó hơn.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1325880"/>
            <a:ext cx="50749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9888" y="1435607"/>
            <a:ext cx="4672583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Kịch bản đã chạy CARLA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có trace, có khe hở nhỏ nhất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643884" y="2029967"/>
            <a:ext cx="164592" cy="164592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88720" y="2258568"/>
            <a:ext cx="5074920" cy="658368"/>
          </a:xfrm>
          <a:prstGeom prst="round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2368296"/>
            <a:ext cx="4672583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Chạy cặp A/B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Baseline  ↔  BehaviorAgent, cùng artifact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3643884" y="2962655"/>
            <a:ext cx="164592" cy="164592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88720" y="3191256"/>
            <a:ext cx="5074920" cy="658368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89888" y="3300984"/>
            <a:ext cx="4672583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Vẫn đâm → giữ làm ca hồi quy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controller failure thật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3643884" y="3895344"/>
            <a:ext cx="164592" cy="164592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188720" y="4123944"/>
            <a:ext cx="5074920" cy="658368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89888" y="4233672"/>
            <a:ext cx="4672583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Tránh được → dò biến thể khó hơn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vặn một tham số, quay lại chạy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1325880"/>
            <a:ext cx="4892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Dò thật trên một ô vượt đèn đỏ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48855" y="1783080"/>
            <a:ext cx="14173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lượt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1783080"/>
            <a:ext cx="1691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tốc độ xe cắt ngang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1783080"/>
            <a:ext cx="1463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khe hở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20840" y="2221991"/>
            <a:ext cx="4892040" cy="420624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48855" y="2221991"/>
            <a:ext cx="14173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gốc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2221991"/>
            <a:ext cx="1691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36,0 km/h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2221991"/>
            <a:ext cx="1463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6,85 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20840" y="2660904"/>
            <a:ext cx="489204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48855" y="2660904"/>
            <a:ext cx="14173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biến thể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2660904"/>
            <a:ext cx="1691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22,2 km/h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2660904"/>
            <a:ext cx="1463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0,00 m — va chạm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720840" y="3246120"/>
            <a:ext cx="489204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E06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03720" y="3419856"/>
            <a:ext cx="4526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06C1F"/>
                </a:solidFill>
                <a:latin typeface="Arial"/>
              </a:rPr>
              <a:t>Sáu ô vô hại → sáu va chạm thật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Hệ thống tự tính tốc độ để hai xe tới nút giao cùng lúc.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4434840"/>
            <a:ext cx="4892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Người bấm, không tự chạy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Mỗi biến thể tốn GPU và mỗi biến thể là dữ liệu mới. Cho nó tự lặp là dựng một đường vòng qua cổng duyệt.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Số đo, lấy thẳng từ database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Snapshot 03/09/2026 qua /api/v1/metrics/quality, sau khi chạy CARLA cho toàn bộ ô ODD. Cost/latency đo 24/08 trên 20 request.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234440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L1  hiểu câu, qua validate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289304"/>
            <a:ext cx="4617720" cy="27432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 Same Side Corner Rectangle 11"/>
          <p:cNvSpPr/>
          <p:nvPr/>
        </p:nvSpPr>
        <p:spPr>
          <a:xfrm>
            <a:off x="4434840" y="1289304"/>
            <a:ext cx="3288278" cy="274320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80576" y="1252728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71,2%  ·  94/132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1892808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L2  biên dịch ra .xosc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1947672"/>
            <a:ext cx="4617720" cy="27432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4434840" y="1947672"/>
            <a:ext cx="4617720" cy="274320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0576" y="1911096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100,0%  ·  113/113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551176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L3  CARLA chạy hết, không crash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34840" y="2606040"/>
            <a:ext cx="4617720" cy="27432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4434840" y="2606040"/>
            <a:ext cx="4617720" cy="274320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0576" y="2569464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100,0%  ·  119/119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209544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L4  quỹ đạo đúng ý định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34840" y="3264408"/>
            <a:ext cx="4617720" cy="27432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 Same Side Corner Rectangle 23"/>
          <p:cNvSpPr/>
          <p:nvPr/>
        </p:nvSpPr>
        <p:spPr>
          <a:xfrm>
            <a:off x="4434840" y="3264408"/>
            <a:ext cx="2974273" cy="274320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80576" y="3227832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64,4%  ·  76/118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88720" y="4069080"/>
            <a:ext cx="2514600" cy="105156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35024" y="4215384"/>
            <a:ext cx="2221992" cy="758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00A651"/>
                </a:solidFill>
                <a:latin typeface="Arial"/>
              </a:rPr>
              <a:t>63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va chạm thật
trên CARLA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86200" y="4069080"/>
            <a:ext cx="2514600" cy="105156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32504" y="4215384"/>
            <a:ext cx="2221992" cy="758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E06C1F"/>
                </a:solidFill>
                <a:latin typeface="Arial"/>
              </a:rPr>
              <a:t>19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ca suýt va chạm
dưới 1 mét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0" y="4069080"/>
            <a:ext cx="2514600" cy="105156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29984" y="4215384"/>
            <a:ext cx="2221992" cy="758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2F62B8"/>
                </a:solidFill>
                <a:latin typeface="Arial"/>
              </a:rPr>
              <a:t>72/72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ô ODD trong phạm vi
đã chạy CARLA thật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81160" y="4069080"/>
            <a:ext cx="2331720" cy="105156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27464" y="4215384"/>
            <a:ext cx="2039112" cy="758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12275D"/>
                </a:solidFill>
                <a:latin typeface="Arial"/>
              </a:rPr>
              <a:t>$0,0023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mỗi kịch bản
p50 · 2,8 giây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88720" y="5440680"/>
            <a:ext cx="104241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275D"/>
                </a:solidFill>
                <a:latin typeface="Arial"/>
              </a:rPr>
              <a:t>L4 là mức khó nhất: quỹ đạo trong CARLA có đúng ý câu tiếng Việt không.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Tiếp theo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Làm gì tiếp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463040"/>
            <a:ext cx="10424159" cy="21488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00200" y="1755648"/>
            <a:ext cx="9601199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</a:pPr>
            <a:r>
              <a:rPr sz="2600" b="1" i="0">
                <a:solidFill>
                  <a:srgbClr val="12275D"/>
                </a:solidFill>
                <a:latin typeface="Arial"/>
              </a:rPr>
              <a:t>Cắm controller của doanh nghiệp vào chỗ BehaviorAgent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700" b="0" i="0">
                <a:solidFill>
                  <a:srgbClr val="5A6472"/>
                </a:solidFill>
                <a:latin typeface="Arial"/>
              </a:rPr>
              <a:t>Thêm một adapter ở worker là xong — backend không phải đụng tới.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06C1F"/>
                </a:solidFill>
                <a:latin typeface="Arial"/>
              </a:rPr>
              <a:t>Câu hỏi đổi thành: kịch bản nào làm controller CỦA BẠN thất bại.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160520"/>
            <a:ext cx="10424159" cy="155448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08760" y="4462272"/>
            <a:ext cx="97840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Live URL  ·  Repo  ·  Kiến trúc  ·  Báo cáo đánh giá đầy đủ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C7D2E8"/>
                </a:solidFill>
                <a:latin typeface="Arial"/>
              </a:rPr>
              <a:t>c4-app-t130.vercel.app   ·   github.com/AI20K-Build-Phase-Cohort-3/P-130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7D2E8"/>
                </a:solidFill>
                <a:latin typeface="Arial"/>
              </a:rPr>
              <a:t>ARCHITECTURE.md   ·   eval/results/report.md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